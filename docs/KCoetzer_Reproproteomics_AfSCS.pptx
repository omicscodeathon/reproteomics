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JetBrains Mono" panose="020B0604020202020204" charset="0"/>
      <p:regular r:id="rId17"/>
    </p:embeddedFont>
    <p:embeddedFont>
      <p:font typeface="Poppins" panose="00000500000000000000" pitchFamily="2" charset="0"/>
      <p:regular r:id="rId18"/>
    </p:embeddedFont>
    <p:embeddedFont>
      <p:font typeface="Poppins Bold" panose="020B0604020202020204" charset="0"/>
      <p:regular r:id="rId19"/>
    </p:embeddedFont>
    <p:embeddedFont>
      <p:font typeface="Poppins Italics" panose="020B0604020202020204" charset="0"/>
      <p:regular r:id="rId20"/>
    </p:embeddedFont>
    <p:embeddedFont>
      <p:font typeface="TT Lakes Neue Expanded" panose="020B0604020202020204" charset="0"/>
      <p:regular r:id="rId21"/>
    </p:embeddedFont>
    <p:embeddedFont>
      <p:font typeface="TT Lakes Neue Expanded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4" d="100"/>
          <a:sy n="34" d="100"/>
        </p:scale>
        <p:origin x="1260" y="3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berly Coetzer" userId="adb905e581863f6d" providerId="LiveId" clId="{E80E12BA-C674-4716-A7C9-A7E0BF77AE8C}"/>
    <pc:docChg chg="modSld">
      <pc:chgData name="Kimberly Coetzer" userId="adb905e581863f6d" providerId="LiveId" clId="{E80E12BA-C674-4716-A7C9-A7E0BF77AE8C}" dt="2025-07-27T16:11:36.993" v="0" actId="1076"/>
      <pc:docMkLst>
        <pc:docMk/>
      </pc:docMkLst>
      <pc:sldChg chg="modSp mod">
        <pc:chgData name="Kimberly Coetzer" userId="adb905e581863f6d" providerId="LiveId" clId="{E80E12BA-C674-4716-A7C9-A7E0BF77AE8C}" dt="2025-07-27T16:11:36.993" v="0" actId="1076"/>
        <pc:sldMkLst>
          <pc:docMk/>
          <pc:sldMk cId="0" sldId="266"/>
        </pc:sldMkLst>
        <pc:picChg chg="mod">
          <ac:chgData name="Kimberly Coetzer" userId="adb905e581863f6d" providerId="LiveId" clId="{E80E12BA-C674-4716-A7C9-A7E0BF77AE8C}" dt="2025-07-27T16:11:36.993" v="0" actId="1076"/>
          <ac:picMkLst>
            <pc:docMk/>
            <pc:sldMk cId="0" sldId="266"/>
            <ac:picMk id="5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bio.tools" TargetMode="External"/><Relationship Id="rId4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9.svg"/><Relationship Id="rId7" Type="http://schemas.openxmlformats.org/officeDocument/2006/relationships/image" Target="../media/image2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1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.png"/><Relationship Id="rId7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6.png"/><Relationship Id="rId4" Type="http://schemas.openxmlformats.org/officeDocument/2006/relationships/image" Target="../media/image3.svg"/><Relationship Id="rId9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837130"/>
            <a:ext cx="1960301" cy="8229600"/>
          </a:xfrm>
          <a:custGeom>
            <a:avLst/>
            <a:gdLst/>
            <a:ahLst/>
            <a:cxnLst/>
            <a:rect l="l" t="t" r="r" b="b"/>
            <a:pathLst>
              <a:path w="1960301" h="8229600">
                <a:moveTo>
                  <a:pt x="0" y="0"/>
                </a:moveTo>
                <a:lnTo>
                  <a:pt x="1960301" y="0"/>
                </a:lnTo>
                <a:lnTo>
                  <a:pt x="196030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-256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1600418"/>
            <a:ext cx="16514364" cy="7086163"/>
          </a:xfrm>
          <a:custGeom>
            <a:avLst/>
            <a:gdLst/>
            <a:ahLst/>
            <a:cxnLst/>
            <a:rect l="l" t="t" r="r" b="b"/>
            <a:pathLst>
              <a:path w="16514364" h="7086163">
                <a:moveTo>
                  <a:pt x="0" y="0"/>
                </a:moveTo>
                <a:lnTo>
                  <a:pt x="16514364" y="0"/>
                </a:lnTo>
                <a:lnTo>
                  <a:pt x="16514364" y="7086164"/>
                </a:lnTo>
                <a:lnTo>
                  <a:pt x="0" y="7086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930173" y="1844058"/>
            <a:ext cx="5522749" cy="7047591"/>
          </a:xfrm>
          <a:custGeom>
            <a:avLst/>
            <a:gdLst/>
            <a:ahLst/>
            <a:cxnLst/>
            <a:rect l="l" t="t" r="r" b="b"/>
            <a:pathLst>
              <a:path w="5522749" h="7047591">
                <a:moveTo>
                  <a:pt x="0" y="0"/>
                </a:moveTo>
                <a:lnTo>
                  <a:pt x="5522748" y="0"/>
                </a:lnTo>
                <a:lnTo>
                  <a:pt x="5522748" y="7047591"/>
                </a:lnTo>
                <a:lnTo>
                  <a:pt x="0" y="70475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4824730" y="4585851"/>
            <a:ext cx="2190574" cy="2640859"/>
          </a:xfrm>
          <a:custGeom>
            <a:avLst/>
            <a:gdLst/>
            <a:ahLst/>
            <a:cxnLst/>
            <a:rect l="l" t="t" r="r" b="b"/>
            <a:pathLst>
              <a:path w="2190574" h="2640859">
                <a:moveTo>
                  <a:pt x="0" y="0"/>
                </a:moveTo>
                <a:lnTo>
                  <a:pt x="2190574" y="0"/>
                </a:lnTo>
                <a:lnTo>
                  <a:pt x="2190574" y="2640859"/>
                </a:lnTo>
                <a:lnTo>
                  <a:pt x="0" y="26408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007633" y="2982497"/>
            <a:ext cx="1824769" cy="1603354"/>
          </a:xfrm>
          <a:custGeom>
            <a:avLst/>
            <a:gdLst/>
            <a:ahLst/>
            <a:cxnLst/>
            <a:rect l="l" t="t" r="r" b="b"/>
            <a:pathLst>
              <a:path w="1824769" h="1603354">
                <a:moveTo>
                  <a:pt x="0" y="0"/>
                </a:moveTo>
                <a:lnTo>
                  <a:pt x="1824769" y="0"/>
                </a:lnTo>
                <a:lnTo>
                  <a:pt x="1824769" y="1603354"/>
                </a:lnTo>
                <a:lnTo>
                  <a:pt x="0" y="16033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896192" y="3272243"/>
            <a:ext cx="8033981" cy="316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3999" b="1">
                <a:solidFill>
                  <a:srgbClr val="000000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THE CRISIS OF</a:t>
            </a:r>
            <a:r>
              <a:rPr lang="en-US" sz="3999">
                <a:solidFill>
                  <a:srgbClr val="000000"/>
                </a:solidFill>
                <a:latin typeface="TT Lakes Neue Expanded"/>
                <a:ea typeface="TT Lakes Neue Expanded"/>
                <a:cs typeface="TT Lakes Neue Expanded"/>
                <a:sym typeface="TT Lakes Neue Expanded"/>
              </a:rPr>
              <a:t> </a:t>
            </a:r>
            <a:r>
              <a:rPr lang="en-US" sz="3999" b="1">
                <a:solidFill>
                  <a:srgbClr val="000000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PROTEOMICS REPRODUCIBILITY</a:t>
            </a:r>
            <a:r>
              <a:rPr lang="en-US" sz="3999">
                <a:solidFill>
                  <a:srgbClr val="000000"/>
                </a:solidFill>
                <a:latin typeface="TT Lakes Neue Expanded"/>
                <a:ea typeface="TT Lakes Neue Expanded"/>
                <a:cs typeface="TT Lakes Neue Expanded"/>
                <a:sym typeface="TT Lakes Neue Expanded"/>
              </a:rPr>
              <a:t> </a:t>
            </a:r>
          </a:p>
          <a:p>
            <a:pPr algn="ctr">
              <a:lnSpc>
                <a:spcPts val="4199"/>
              </a:lnSpc>
            </a:pPr>
            <a:r>
              <a:rPr lang="en-US" sz="3999">
                <a:solidFill>
                  <a:srgbClr val="000000"/>
                </a:solidFill>
                <a:latin typeface="TT Lakes Neue Expanded"/>
                <a:ea typeface="TT Lakes Neue Expanded"/>
                <a:cs typeface="TT Lakes Neue Expanded"/>
                <a:sym typeface="TT Lakes Neue Expanded"/>
              </a:rPr>
              <a:t>A BIOINFORMATICS PERSPECTIVE</a:t>
            </a:r>
          </a:p>
          <a:p>
            <a:pPr algn="ctr">
              <a:lnSpc>
                <a:spcPts val="4199"/>
              </a:lnSpc>
            </a:pPr>
            <a:endParaRPr lang="en-US" sz="3999">
              <a:solidFill>
                <a:srgbClr val="000000"/>
              </a:solidFill>
              <a:latin typeface="TT Lakes Neue Expanded"/>
              <a:ea typeface="TT Lakes Neue Expanded"/>
              <a:cs typeface="TT Lakes Neue Expanded"/>
              <a:sym typeface="TT Lakes Neue Expande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604373" y="6378985"/>
            <a:ext cx="4617618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Kimberly Coetzer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kcoetzer@sun.ac.za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49630" y="9801225"/>
            <a:ext cx="8395246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African Society for Bioinformatics and Computational Biology codeathon - October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62398" y="430419"/>
            <a:ext cx="8446813" cy="8657618"/>
          </a:xfrm>
          <a:custGeom>
            <a:avLst/>
            <a:gdLst/>
            <a:ahLst/>
            <a:cxnLst/>
            <a:rect l="l" t="t" r="r" b="b"/>
            <a:pathLst>
              <a:path w="8446813" h="8657618">
                <a:moveTo>
                  <a:pt x="0" y="0"/>
                </a:moveTo>
                <a:lnTo>
                  <a:pt x="8446813" y="0"/>
                </a:lnTo>
                <a:lnTo>
                  <a:pt x="8446813" y="8657619"/>
                </a:lnTo>
                <a:lnTo>
                  <a:pt x="0" y="8657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64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50121" y="430419"/>
            <a:ext cx="6765661" cy="4965603"/>
          </a:xfrm>
          <a:custGeom>
            <a:avLst/>
            <a:gdLst/>
            <a:ahLst/>
            <a:cxnLst/>
            <a:rect l="l" t="t" r="r" b="b"/>
            <a:pathLst>
              <a:path w="6765661" h="4965603">
                <a:moveTo>
                  <a:pt x="0" y="0"/>
                </a:moveTo>
                <a:lnTo>
                  <a:pt x="6765661" y="0"/>
                </a:lnTo>
                <a:lnTo>
                  <a:pt x="6765661" y="4965604"/>
                </a:lnTo>
                <a:lnTo>
                  <a:pt x="0" y="4965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5451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5400000">
            <a:off x="1824890" y="4859499"/>
            <a:ext cx="2752184" cy="8229600"/>
          </a:xfrm>
          <a:custGeom>
            <a:avLst/>
            <a:gdLst/>
            <a:ahLst/>
            <a:cxnLst/>
            <a:rect l="l" t="t" r="r" b="b"/>
            <a:pathLst>
              <a:path w="2752184" h="8229600">
                <a:moveTo>
                  <a:pt x="0" y="0"/>
                </a:moveTo>
                <a:lnTo>
                  <a:pt x="2752184" y="0"/>
                </a:lnTo>
                <a:lnTo>
                  <a:pt x="275218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 l="-156464" t="-459" b="-4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309623" y="2521473"/>
            <a:ext cx="5246656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6000" b="1">
                <a:solidFill>
                  <a:srgbClr val="000000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CONTEXT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97868" y="2376488"/>
            <a:ext cx="7975873" cy="5543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just">
              <a:lnSpc>
                <a:spcPts val="2624"/>
              </a:lnSpc>
              <a:buFont typeface="Arial"/>
              <a:buChar char="•"/>
            </a:pP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Originally a </a:t>
            </a:r>
            <a:r>
              <a:rPr lang="en-US" sz="2499" b="1" spc="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proteomic reanalysis</a:t>
            </a: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of two thalassemia studies</a:t>
            </a:r>
          </a:p>
          <a:p>
            <a:pPr algn="just">
              <a:lnSpc>
                <a:spcPts val="2624"/>
              </a:lnSpc>
            </a:pPr>
            <a:endParaRPr lang="en-US" sz="2499" spc="84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749" lvl="1" indent="-269875" algn="just">
              <a:lnSpc>
                <a:spcPts val="2624"/>
              </a:lnSpc>
              <a:buFont typeface="Arial"/>
              <a:buChar char="•"/>
            </a:pP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Authors gave </a:t>
            </a:r>
            <a:r>
              <a:rPr lang="en-US" sz="2499" b="1" spc="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insufficient metadata </a:t>
            </a: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 article and after emailing</a:t>
            </a:r>
          </a:p>
          <a:p>
            <a:pPr algn="just">
              <a:lnSpc>
                <a:spcPts val="2624"/>
              </a:lnSpc>
            </a:pPr>
            <a:endParaRPr lang="en-US" sz="2499" spc="84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749" lvl="1" indent="-269875" algn="just">
              <a:lnSpc>
                <a:spcPts val="2624"/>
              </a:lnSpc>
              <a:buFont typeface="Arial"/>
              <a:buChar char="•"/>
            </a:pP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Common </a:t>
            </a:r>
            <a:r>
              <a:rPr lang="en-US" sz="2499" b="1" spc="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frustration of reproducing</a:t>
            </a: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proteomics research using publicly available data</a:t>
            </a:r>
          </a:p>
          <a:p>
            <a:pPr algn="just">
              <a:lnSpc>
                <a:spcPts val="2624"/>
              </a:lnSpc>
            </a:pPr>
            <a:endParaRPr lang="en-US" sz="2499" spc="84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749" lvl="1" indent="-269875" algn="just">
              <a:lnSpc>
                <a:spcPts val="2624"/>
              </a:lnSpc>
              <a:buFont typeface="Arial"/>
              <a:buChar char="•"/>
            </a:pPr>
            <a:r>
              <a:rPr lang="en-US" sz="2499" b="1" spc="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Overwhelming</a:t>
            </a: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amount of tools available</a:t>
            </a:r>
          </a:p>
          <a:p>
            <a:pPr algn="just">
              <a:lnSpc>
                <a:spcPts val="2624"/>
              </a:lnSpc>
            </a:pPr>
            <a:endParaRPr lang="en-US" sz="2499" spc="84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749" lvl="1" indent="-269875" algn="just">
              <a:lnSpc>
                <a:spcPts val="2624"/>
              </a:lnSpc>
              <a:buFont typeface="Arial"/>
              <a:buChar char="•"/>
            </a:pP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Don’t know where to start and </a:t>
            </a:r>
            <a:r>
              <a:rPr lang="en-US" sz="2499" b="1" spc="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which tools to use</a:t>
            </a:r>
          </a:p>
          <a:p>
            <a:pPr algn="just">
              <a:lnSpc>
                <a:spcPts val="2624"/>
              </a:lnSpc>
            </a:pPr>
            <a:endParaRPr lang="en-US" sz="2499" b="1" spc="84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539749" lvl="1" indent="-269875" algn="just">
              <a:lnSpc>
                <a:spcPts val="2624"/>
              </a:lnSpc>
              <a:buFont typeface="Arial"/>
              <a:buChar char="•"/>
            </a:pP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Limited information available on how to select </a:t>
            </a:r>
            <a:r>
              <a:rPr lang="en-US" sz="2499" b="1" spc="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appropriate tools</a:t>
            </a: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1241" y="4132807"/>
            <a:ext cx="620875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5"/>
              </a:lnSpc>
            </a:pPr>
            <a:r>
              <a:rPr lang="en-US" sz="3500" spc="11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What insipired this study?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293887" y="0"/>
            <a:ext cx="6994113" cy="8229600"/>
          </a:xfrm>
          <a:custGeom>
            <a:avLst/>
            <a:gdLst/>
            <a:ahLst/>
            <a:cxnLst/>
            <a:rect l="l" t="t" r="r" b="b"/>
            <a:pathLst>
              <a:path w="6994113" h="8229600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192341" y="1697266"/>
            <a:ext cx="7066959" cy="7561034"/>
          </a:xfrm>
          <a:custGeom>
            <a:avLst/>
            <a:gdLst/>
            <a:ahLst/>
            <a:cxnLst/>
            <a:rect l="l" t="t" r="r" b="b"/>
            <a:pathLst>
              <a:path w="7066959" h="7561034">
                <a:moveTo>
                  <a:pt x="0" y="0"/>
                </a:moveTo>
                <a:lnTo>
                  <a:pt x="7066959" y="0"/>
                </a:lnTo>
                <a:lnTo>
                  <a:pt x="7066959" y="7561034"/>
                </a:lnTo>
                <a:lnTo>
                  <a:pt x="0" y="75610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19" r="-29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2269601" y="1076325"/>
            <a:ext cx="4989699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1">
                <a:solidFill>
                  <a:srgbClr val="000000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566863"/>
            <a:ext cx="9163641" cy="7486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24"/>
              </a:lnSpc>
              <a:spcBef>
                <a:spcPct val="0"/>
              </a:spcBef>
            </a:pP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Proteomics → large-scale study of proteins</a:t>
            </a:r>
          </a:p>
          <a:p>
            <a:pPr algn="just">
              <a:lnSpc>
                <a:spcPts val="2624"/>
              </a:lnSpc>
              <a:spcBef>
                <a:spcPct val="0"/>
              </a:spcBef>
            </a:pPr>
            <a:endParaRPr lang="en-US" sz="2499" spc="84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624"/>
              </a:lnSpc>
              <a:spcBef>
                <a:spcPct val="0"/>
              </a:spcBef>
            </a:pP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Plays a </a:t>
            </a:r>
            <a:r>
              <a:rPr lang="en-US" sz="2499" b="1" spc="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vital role</a:t>
            </a: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across disciplines</a:t>
            </a:r>
          </a:p>
          <a:p>
            <a:pPr marL="539749" lvl="1" indent="-269875" algn="just">
              <a:lnSpc>
                <a:spcPts val="2624"/>
              </a:lnSpc>
              <a:buFont typeface="Arial"/>
              <a:buChar char="•"/>
            </a:pP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identifying disease biomarkers </a:t>
            </a:r>
          </a:p>
          <a:p>
            <a:pPr marL="539749" lvl="1" indent="-269875" algn="just">
              <a:lnSpc>
                <a:spcPts val="2624"/>
              </a:lnSpc>
              <a:buFont typeface="Arial"/>
              <a:buChar char="•"/>
            </a:pP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drug targets </a:t>
            </a:r>
          </a:p>
          <a:p>
            <a:pPr marL="539749" lvl="1" indent="-269875" algn="just">
              <a:lnSpc>
                <a:spcPts val="2624"/>
              </a:lnSpc>
              <a:buFont typeface="Arial"/>
              <a:buChar char="•"/>
            </a:pP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improving food safety </a:t>
            </a:r>
          </a:p>
          <a:p>
            <a:pPr marL="539749" lvl="1" indent="-269875" algn="just">
              <a:lnSpc>
                <a:spcPts val="2624"/>
              </a:lnSpc>
              <a:buFont typeface="Arial"/>
              <a:buChar char="•"/>
            </a:pP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agricultural productivity</a:t>
            </a:r>
          </a:p>
          <a:p>
            <a:pPr algn="just">
              <a:lnSpc>
                <a:spcPts val="2624"/>
              </a:lnSpc>
              <a:spcBef>
                <a:spcPct val="0"/>
              </a:spcBef>
            </a:pPr>
            <a:endParaRPr lang="en-US" sz="2499" spc="84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624"/>
              </a:lnSpc>
              <a:spcBef>
                <a:spcPct val="0"/>
              </a:spcBef>
            </a:pP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Proteome is dynamic → difficult to study</a:t>
            </a:r>
          </a:p>
          <a:p>
            <a:pPr marL="539749" lvl="1" indent="-269875" algn="just">
              <a:lnSpc>
                <a:spcPts val="2624"/>
              </a:lnSpc>
              <a:buFont typeface="Arial"/>
              <a:buChar char="•"/>
            </a:pP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changes over time</a:t>
            </a:r>
          </a:p>
          <a:p>
            <a:pPr marL="539749" lvl="1" indent="-269875" algn="just">
              <a:lnSpc>
                <a:spcPts val="2624"/>
              </a:lnSpc>
              <a:buFont typeface="Arial"/>
              <a:buChar char="•"/>
            </a:pP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between tissues</a:t>
            </a:r>
          </a:p>
          <a:p>
            <a:pPr marL="539749" lvl="1" indent="-269875" algn="just">
              <a:lnSpc>
                <a:spcPts val="2624"/>
              </a:lnSpc>
              <a:buFont typeface="Arial"/>
              <a:buChar char="•"/>
            </a:pP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response to stimuli</a:t>
            </a:r>
          </a:p>
          <a:p>
            <a:pPr algn="just">
              <a:lnSpc>
                <a:spcPts val="2624"/>
              </a:lnSpc>
              <a:spcBef>
                <a:spcPct val="0"/>
              </a:spcBef>
            </a:pPr>
            <a:endParaRPr lang="en-US" sz="2499" spc="84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624"/>
              </a:lnSpc>
              <a:spcBef>
                <a:spcPct val="0"/>
              </a:spcBef>
            </a:pP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also provides valuable insight into features invisible to genomics or transcriptomics</a:t>
            </a:r>
          </a:p>
          <a:p>
            <a:pPr algn="just">
              <a:lnSpc>
                <a:spcPts val="2624"/>
              </a:lnSpc>
              <a:spcBef>
                <a:spcPct val="0"/>
              </a:spcBef>
            </a:pPr>
            <a:endParaRPr lang="en-US" sz="2499" spc="84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624"/>
              </a:lnSpc>
              <a:spcBef>
                <a:spcPct val="0"/>
              </a:spcBef>
            </a:pP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Continues to face one major roadblock: </a:t>
            </a:r>
            <a:r>
              <a:rPr lang="en-US" sz="2499" b="1" spc="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reproducibility</a:t>
            </a:r>
          </a:p>
          <a:p>
            <a:pPr algn="just">
              <a:lnSpc>
                <a:spcPts val="2624"/>
              </a:lnSpc>
              <a:spcBef>
                <a:spcPct val="0"/>
              </a:spcBef>
            </a:pPr>
            <a:endParaRPr lang="en-US" sz="2499" b="1" spc="84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2624"/>
              </a:lnSpc>
              <a:spcBef>
                <a:spcPct val="0"/>
              </a:spcBef>
            </a:pP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Due to:</a:t>
            </a:r>
          </a:p>
          <a:p>
            <a:pPr marL="539749" lvl="1" indent="-269875" algn="just">
              <a:lnSpc>
                <a:spcPts val="2624"/>
              </a:lnSpc>
              <a:buFont typeface="Arial"/>
              <a:buChar char="•"/>
            </a:pP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Inconsistent protocols</a:t>
            </a:r>
          </a:p>
          <a:p>
            <a:pPr marL="539749" lvl="1" indent="-269875" algn="just">
              <a:lnSpc>
                <a:spcPts val="2624"/>
              </a:lnSpc>
              <a:buFont typeface="Arial"/>
              <a:buChar char="•"/>
            </a:pP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Opaque data reporting</a:t>
            </a:r>
          </a:p>
          <a:p>
            <a:pPr marL="539749" lvl="1" indent="-269875" algn="just">
              <a:lnSpc>
                <a:spcPts val="2624"/>
              </a:lnSpc>
              <a:buFont typeface="Arial"/>
              <a:buChar char="•"/>
            </a:pP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Inconsistent and complex software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88113" y="5257800"/>
            <a:ext cx="6994113" cy="8229600"/>
          </a:xfrm>
          <a:custGeom>
            <a:avLst/>
            <a:gdLst/>
            <a:ahLst/>
            <a:cxnLst/>
            <a:rect l="l" t="t" r="r" b="b"/>
            <a:pathLst>
              <a:path w="6994113" h="8229600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028700" y="2605087"/>
          <a:ext cx="16230600" cy="6496049"/>
        </p:xfrm>
        <a:graphic>
          <a:graphicData uri="http://schemas.openxmlformats.org/drawingml/2006/table">
            <a:tbl>
              <a:tblPr/>
              <a:tblGrid>
                <a:gridCol w="2100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6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9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679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54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4241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Type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Data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Analysis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Person/Lab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Example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Ask yourself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2952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Repeatable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Same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Same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Same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Same  person reruns search engine with same settings and data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Can I get the same result if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 I do it again exactly the same way?</a:t>
                      </a:r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2952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Reproducible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Same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Same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Different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Another  lab reruns your nf-core pipeline with your shared data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Can someone else reproduce my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 findings with my data and my code?</a:t>
                      </a:r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2952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Replicable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Different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Same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Different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Same  proteins upregulated in a second independent cohort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Does the same biological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 phenomenon appear in another experiment?</a:t>
                      </a:r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2952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Robust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Same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Different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Same/Different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Pathway  enrichment stable across changes in normalization method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Do I still see the same key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 conclusions when I tweak the analysis?</a:t>
                      </a:r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028700" y="1076325"/>
            <a:ext cx="7816414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1">
                <a:solidFill>
                  <a:srgbClr val="000000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WHAT IS REPRODUCIBILITY?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26897" y="1371600"/>
            <a:ext cx="6404705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Reproducibility is a </a:t>
            </a:r>
            <a:r>
              <a:rPr lang="en-US" sz="3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foundational principle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of scientific research.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562556" y="1028700"/>
            <a:ext cx="5249936" cy="748374"/>
            <a:chOff x="0" y="0"/>
            <a:chExt cx="1382699" cy="1971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82699" cy="197103"/>
            </a:xfrm>
            <a:custGeom>
              <a:avLst/>
              <a:gdLst/>
              <a:ahLst/>
              <a:cxnLst/>
              <a:rect l="l" t="t" r="r" b="b"/>
              <a:pathLst>
                <a:path w="1382699" h="197103">
                  <a:moveTo>
                    <a:pt x="36867" y="0"/>
                  </a:moveTo>
                  <a:lnTo>
                    <a:pt x="1345832" y="0"/>
                  </a:lnTo>
                  <a:cubicBezTo>
                    <a:pt x="1366193" y="0"/>
                    <a:pt x="1382699" y="16506"/>
                    <a:pt x="1382699" y="36867"/>
                  </a:cubicBezTo>
                  <a:lnTo>
                    <a:pt x="1382699" y="160236"/>
                  </a:lnTo>
                  <a:cubicBezTo>
                    <a:pt x="1382699" y="180597"/>
                    <a:pt x="1366193" y="197103"/>
                    <a:pt x="1345832" y="197103"/>
                  </a:cubicBezTo>
                  <a:lnTo>
                    <a:pt x="36867" y="197103"/>
                  </a:lnTo>
                  <a:cubicBezTo>
                    <a:pt x="16506" y="197103"/>
                    <a:pt x="0" y="180597"/>
                    <a:pt x="0" y="160236"/>
                  </a:cubicBezTo>
                  <a:lnTo>
                    <a:pt x="0" y="36867"/>
                  </a:lnTo>
                  <a:cubicBezTo>
                    <a:pt x="0" y="16506"/>
                    <a:pt x="16506" y="0"/>
                    <a:pt x="3686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97B2">
                    <a:alpha val="70000"/>
                  </a:srgbClr>
                </a:gs>
                <a:gs pos="50000">
                  <a:srgbClr val="3A6A9E">
                    <a:alpha val="70000"/>
                  </a:srgbClr>
                </a:gs>
                <a:gs pos="100000">
                  <a:srgbClr val="103863">
                    <a:alpha val="70000"/>
                  </a:srgbClr>
                </a:gs>
              </a:gsLst>
              <a:lin ang="0"/>
            </a:gradFill>
            <a:ln w="19050" cap="rnd">
              <a:solidFill>
                <a:srgbClr val="000000">
                  <a:alpha val="6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1382699" cy="1685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6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832459" y="1075858"/>
            <a:ext cx="309496" cy="527005"/>
          </a:xfrm>
          <a:custGeom>
            <a:avLst/>
            <a:gdLst/>
            <a:ahLst/>
            <a:cxnLst/>
            <a:rect l="l" t="t" r="r" b="b"/>
            <a:pathLst>
              <a:path w="309496" h="527005">
                <a:moveTo>
                  <a:pt x="0" y="0"/>
                </a:moveTo>
                <a:lnTo>
                  <a:pt x="309496" y="0"/>
                </a:lnTo>
                <a:lnTo>
                  <a:pt x="309496" y="527005"/>
                </a:lnTo>
                <a:lnTo>
                  <a:pt x="0" y="5270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6682213" y="3361690"/>
            <a:ext cx="5249936" cy="748374"/>
            <a:chOff x="0" y="0"/>
            <a:chExt cx="1382699" cy="19710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82699" cy="197103"/>
            </a:xfrm>
            <a:custGeom>
              <a:avLst/>
              <a:gdLst/>
              <a:ahLst/>
              <a:cxnLst/>
              <a:rect l="l" t="t" r="r" b="b"/>
              <a:pathLst>
                <a:path w="1382699" h="197103">
                  <a:moveTo>
                    <a:pt x="36867" y="0"/>
                  </a:moveTo>
                  <a:lnTo>
                    <a:pt x="1345832" y="0"/>
                  </a:lnTo>
                  <a:cubicBezTo>
                    <a:pt x="1366193" y="0"/>
                    <a:pt x="1382699" y="16506"/>
                    <a:pt x="1382699" y="36867"/>
                  </a:cubicBezTo>
                  <a:lnTo>
                    <a:pt x="1382699" y="160236"/>
                  </a:lnTo>
                  <a:cubicBezTo>
                    <a:pt x="1382699" y="180597"/>
                    <a:pt x="1366193" y="197103"/>
                    <a:pt x="1345832" y="197103"/>
                  </a:cubicBezTo>
                  <a:lnTo>
                    <a:pt x="36867" y="197103"/>
                  </a:lnTo>
                  <a:cubicBezTo>
                    <a:pt x="16506" y="197103"/>
                    <a:pt x="0" y="180597"/>
                    <a:pt x="0" y="160236"/>
                  </a:cubicBezTo>
                  <a:lnTo>
                    <a:pt x="0" y="36867"/>
                  </a:lnTo>
                  <a:cubicBezTo>
                    <a:pt x="0" y="16506"/>
                    <a:pt x="16506" y="0"/>
                    <a:pt x="3686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97B2">
                    <a:alpha val="70000"/>
                  </a:srgbClr>
                </a:gs>
                <a:gs pos="50000">
                  <a:srgbClr val="3A6A9E">
                    <a:alpha val="70000"/>
                  </a:srgbClr>
                </a:gs>
                <a:gs pos="100000">
                  <a:srgbClr val="103863">
                    <a:alpha val="70000"/>
                  </a:srgbClr>
                </a:gs>
              </a:gsLst>
              <a:lin ang="0"/>
            </a:gradFill>
            <a:ln w="19050" cap="rnd">
              <a:solidFill>
                <a:srgbClr val="000000">
                  <a:alpha val="6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1382699" cy="1685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6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6952117" y="3408848"/>
            <a:ext cx="309496" cy="527005"/>
          </a:xfrm>
          <a:custGeom>
            <a:avLst/>
            <a:gdLst/>
            <a:ahLst/>
            <a:cxnLst/>
            <a:rect l="l" t="t" r="r" b="b"/>
            <a:pathLst>
              <a:path w="309496" h="527005">
                <a:moveTo>
                  <a:pt x="0" y="0"/>
                </a:moveTo>
                <a:lnTo>
                  <a:pt x="309496" y="0"/>
                </a:lnTo>
                <a:lnTo>
                  <a:pt x="309496" y="527005"/>
                </a:lnTo>
                <a:lnTo>
                  <a:pt x="0" y="5270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6562556" y="7048298"/>
            <a:ext cx="5249936" cy="748374"/>
            <a:chOff x="0" y="0"/>
            <a:chExt cx="1382699" cy="19710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82699" cy="197103"/>
            </a:xfrm>
            <a:custGeom>
              <a:avLst/>
              <a:gdLst/>
              <a:ahLst/>
              <a:cxnLst/>
              <a:rect l="l" t="t" r="r" b="b"/>
              <a:pathLst>
                <a:path w="1382699" h="197103">
                  <a:moveTo>
                    <a:pt x="36867" y="0"/>
                  </a:moveTo>
                  <a:lnTo>
                    <a:pt x="1345832" y="0"/>
                  </a:lnTo>
                  <a:cubicBezTo>
                    <a:pt x="1366193" y="0"/>
                    <a:pt x="1382699" y="16506"/>
                    <a:pt x="1382699" y="36867"/>
                  </a:cubicBezTo>
                  <a:lnTo>
                    <a:pt x="1382699" y="160236"/>
                  </a:lnTo>
                  <a:cubicBezTo>
                    <a:pt x="1382699" y="180597"/>
                    <a:pt x="1366193" y="197103"/>
                    <a:pt x="1345832" y="197103"/>
                  </a:cubicBezTo>
                  <a:lnTo>
                    <a:pt x="36867" y="197103"/>
                  </a:lnTo>
                  <a:cubicBezTo>
                    <a:pt x="16506" y="197103"/>
                    <a:pt x="0" y="180597"/>
                    <a:pt x="0" y="160236"/>
                  </a:cubicBezTo>
                  <a:lnTo>
                    <a:pt x="0" y="36867"/>
                  </a:lnTo>
                  <a:cubicBezTo>
                    <a:pt x="0" y="16506"/>
                    <a:pt x="16506" y="0"/>
                    <a:pt x="3686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97B2">
                    <a:alpha val="70000"/>
                  </a:srgbClr>
                </a:gs>
                <a:gs pos="50000">
                  <a:srgbClr val="3A6A9E">
                    <a:alpha val="70000"/>
                  </a:srgbClr>
                </a:gs>
                <a:gs pos="100000">
                  <a:srgbClr val="103863">
                    <a:alpha val="70000"/>
                  </a:srgbClr>
                </a:gs>
              </a:gsLst>
              <a:lin ang="0"/>
            </a:gradFill>
            <a:ln w="19050" cap="rnd">
              <a:solidFill>
                <a:srgbClr val="000000">
                  <a:alpha val="6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28575"/>
              <a:ext cx="1382699" cy="1685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6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7050262" y="7110848"/>
            <a:ext cx="309496" cy="527005"/>
          </a:xfrm>
          <a:custGeom>
            <a:avLst/>
            <a:gdLst/>
            <a:ahLst/>
            <a:cxnLst/>
            <a:rect l="l" t="t" r="r" b="b"/>
            <a:pathLst>
              <a:path w="309496" h="527005">
                <a:moveTo>
                  <a:pt x="0" y="0"/>
                </a:moveTo>
                <a:lnTo>
                  <a:pt x="309496" y="0"/>
                </a:lnTo>
                <a:lnTo>
                  <a:pt x="309496" y="527005"/>
                </a:lnTo>
                <a:lnTo>
                  <a:pt x="0" y="5270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609640" y="3803862"/>
            <a:ext cx="2185987" cy="4114800"/>
          </a:xfrm>
          <a:custGeom>
            <a:avLst/>
            <a:gdLst/>
            <a:ahLst/>
            <a:cxnLst/>
            <a:rect l="l" t="t" r="r" b="b"/>
            <a:pathLst>
              <a:path w="2185987" h="4114800">
                <a:moveTo>
                  <a:pt x="0" y="0"/>
                </a:moveTo>
                <a:lnTo>
                  <a:pt x="2185988" y="0"/>
                </a:lnTo>
                <a:lnTo>
                  <a:pt x="21859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028700" y="1123483"/>
            <a:ext cx="5533856" cy="200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1">
                <a:solidFill>
                  <a:srgbClr val="000000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CHALLENGES INFLUENCING REPRODUCIBILITY IN PROTEOMICS </a:t>
            </a:r>
          </a:p>
          <a:p>
            <a:pPr algn="l">
              <a:lnSpc>
                <a:spcPts val="3150"/>
              </a:lnSpc>
            </a:pPr>
            <a:endParaRPr lang="en-US" sz="3000" b="1">
              <a:solidFill>
                <a:srgbClr val="000000"/>
              </a:solidFill>
              <a:latin typeface="TT Lakes Neue Expanded Bold"/>
              <a:ea typeface="TT Lakes Neue Expanded Bold"/>
              <a:cs typeface="TT Lakes Neue Expanded Bold"/>
              <a:sym typeface="TT Lakes Neue Expanded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205010" y="1253918"/>
            <a:ext cx="4521385" cy="307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46"/>
              </a:lnSpc>
              <a:spcBef>
                <a:spcPct val="0"/>
              </a:spcBef>
            </a:pPr>
            <a:r>
              <a:rPr lang="en-US" sz="2139" b="1" spc="7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PREPROCESSING CHALLENGES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42140" y="3458150"/>
            <a:ext cx="4269515" cy="583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6"/>
              </a:lnSpc>
              <a:spcBef>
                <a:spcPct val="0"/>
              </a:spcBef>
            </a:pPr>
            <a:r>
              <a:rPr lang="en-US" sz="2139" b="1" spc="7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TRANSPARENCY AND REPORTING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75426" y="7273516"/>
            <a:ext cx="3780552" cy="307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46"/>
              </a:lnSpc>
              <a:spcBef>
                <a:spcPct val="0"/>
              </a:spcBef>
            </a:pPr>
            <a:r>
              <a:rPr lang="en-US" sz="2139" b="1" spc="7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SOFTWARE DIVERSITY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62556" y="7785100"/>
            <a:ext cx="10696744" cy="1701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7" lvl="1" indent="-215899" algn="l">
              <a:lnSpc>
                <a:spcPts val="3399"/>
              </a:lnSpc>
              <a:buFont typeface="Arial"/>
              <a:buChar char="•"/>
            </a:pPr>
            <a:r>
              <a:rPr lang="en-US" sz="19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Tool variation:</a:t>
            </a: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Different tools produce different results on the same data.</a:t>
            </a:r>
          </a:p>
          <a:p>
            <a:pPr marL="431797" lvl="1" indent="-215899" algn="l">
              <a:lnSpc>
                <a:spcPts val="3399"/>
              </a:lnSpc>
              <a:buFont typeface="Arial"/>
              <a:buChar char="•"/>
            </a:pPr>
            <a:r>
              <a:rPr lang="en-US" sz="19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Tool versions</a:t>
            </a: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Updates change algorithm behaviour and default parameters</a:t>
            </a:r>
          </a:p>
          <a:p>
            <a:pPr marL="431797" lvl="1" indent="-215899" algn="l">
              <a:lnSpc>
                <a:spcPts val="3399"/>
              </a:lnSpc>
              <a:buFont typeface="Arial"/>
              <a:buChar char="•"/>
            </a:pPr>
            <a:r>
              <a:rPr lang="en-US" sz="19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Incompatible file formats:</a:t>
            </a: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Lack of standards (e.g., mzTab, mzIdentML, SDRF) </a:t>
            </a:r>
          </a:p>
          <a:p>
            <a:pPr marL="431797" lvl="1" indent="-215899" algn="l">
              <a:lnSpc>
                <a:spcPts val="3399"/>
              </a:lnSpc>
              <a:buFont typeface="Arial"/>
              <a:buChar char="•"/>
            </a:pPr>
            <a:r>
              <a:rPr lang="en-US" sz="19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Dependency conflicts:</a:t>
            </a: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Environments break without containers or packaging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62556" y="1853354"/>
            <a:ext cx="10696744" cy="1273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7" lvl="1" indent="-215899" algn="l">
              <a:lnSpc>
                <a:spcPts val="3399"/>
              </a:lnSpc>
              <a:buFont typeface="Arial"/>
              <a:buChar char="•"/>
            </a:pPr>
            <a:r>
              <a:rPr lang="en-US" sz="19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Inconsistent preprocessing: </a:t>
            </a: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Different peak picking, noise filtering, and smoothing methods alter results.</a:t>
            </a:r>
          </a:p>
          <a:p>
            <a:pPr marL="431797" lvl="1" indent="-215899" algn="l">
              <a:lnSpc>
                <a:spcPts val="3399"/>
              </a:lnSpc>
              <a:buFont typeface="Arial"/>
              <a:buChar char="•"/>
            </a:pPr>
            <a:r>
              <a:rPr lang="en-US" sz="19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Missing value handling:</a:t>
            </a: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Imputation strategies yield different results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82213" y="4136734"/>
            <a:ext cx="10696744" cy="2559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7" lvl="1" indent="-215899" algn="l">
              <a:lnSpc>
                <a:spcPts val="3399"/>
              </a:lnSpc>
              <a:buFont typeface="Arial"/>
              <a:buChar char="•"/>
            </a:pPr>
            <a:r>
              <a:rPr lang="en-US" sz="19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Undocumented parameters or tool versions:</a:t>
            </a: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Not enough information given to replicate results</a:t>
            </a:r>
          </a:p>
          <a:p>
            <a:pPr marL="431797" lvl="1" indent="-215899" algn="l">
              <a:lnSpc>
                <a:spcPts val="3399"/>
              </a:lnSpc>
              <a:buFont typeface="Arial"/>
              <a:buChar char="•"/>
            </a:pPr>
            <a:r>
              <a:rPr lang="en-US" sz="19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Incomplete metadata:</a:t>
            </a: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Missing details on sample prep, digestion, labeling, or experimental design</a:t>
            </a:r>
          </a:p>
          <a:p>
            <a:pPr marL="431797" lvl="1" indent="-215899" algn="l">
              <a:lnSpc>
                <a:spcPts val="3399"/>
              </a:lnSpc>
              <a:buFont typeface="Arial"/>
              <a:buChar char="•"/>
            </a:pPr>
            <a:r>
              <a:rPr lang="en-US" sz="19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 access to raw data or code: </a:t>
            </a: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In-house pipelines, no GitHub, no DOI (Zenodo)</a:t>
            </a:r>
          </a:p>
          <a:p>
            <a:pPr marL="431797" lvl="1" indent="-215899" algn="l">
              <a:lnSpc>
                <a:spcPts val="3399"/>
              </a:lnSpc>
              <a:buFont typeface="Arial"/>
              <a:buChar char="•"/>
            </a:pPr>
            <a:r>
              <a:rPr lang="en-US" sz="19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Black-box pipelines:</a:t>
            </a: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Proprietary software or hidden steps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390656" y="-1681809"/>
            <a:ext cx="4607176" cy="5421018"/>
          </a:xfrm>
          <a:custGeom>
            <a:avLst/>
            <a:gdLst/>
            <a:ahLst/>
            <a:cxnLst/>
            <a:rect l="l" t="t" r="r" b="b"/>
            <a:pathLst>
              <a:path w="4607176" h="5421018">
                <a:moveTo>
                  <a:pt x="0" y="0"/>
                </a:moveTo>
                <a:lnTo>
                  <a:pt x="4607176" y="0"/>
                </a:lnTo>
                <a:lnTo>
                  <a:pt x="4607176" y="5421018"/>
                </a:lnTo>
                <a:lnTo>
                  <a:pt x="0" y="5421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076325"/>
            <a:ext cx="16230600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1">
                <a:solidFill>
                  <a:srgbClr val="000000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EXISTING AND EMERGING SOLUTIONS FOR IMPROVING REPRODUCIBILITY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052637"/>
            <a:ext cx="11353967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2099"/>
              </a:lnSpc>
              <a:buFont typeface="Arial"/>
              <a:buChar char="•"/>
            </a:pPr>
            <a:r>
              <a:rPr lang="en-US" sz="1999" spc="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Protein bioinformatics has made </a:t>
            </a:r>
            <a:r>
              <a:rPr lang="en-US" sz="1999" b="1" spc="6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significant progress</a:t>
            </a:r>
            <a:r>
              <a:rPr lang="en-US" sz="1999" spc="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 the past two decades</a:t>
            </a:r>
          </a:p>
        </p:txBody>
      </p:sp>
      <p:sp>
        <p:nvSpPr>
          <p:cNvPr id="5" name="Freeform 5"/>
          <p:cNvSpPr/>
          <p:nvPr/>
        </p:nvSpPr>
        <p:spPr>
          <a:xfrm>
            <a:off x="867041" y="3739209"/>
            <a:ext cx="3912801" cy="4114800"/>
          </a:xfrm>
          <a:custGeom>
            <a:avLst/>
            <a:gdLst/>
            <a:ahLst/>
            <a:cxnLst/>
            <a:rect l="l" t="t" r="r" b="b"/>
            <a:pathLst>
              <a:path w="3912801" h="4114800">
                <a:moveTo>
                  <a:pt x="0" y="0"/>
                </a:moveTo>
                <a:lnTo>
                  <a:pt x="3912801" y="0"/>
                </a:lnTo>
                <a:lnTo>
                  <a:pt x="39128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73030" y="2463799"/>
            <a:ext cx="11621214" cy="6794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19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Workflow Automation</a:t>
            </a:r>
          </a:p>
          <a:p>
            <a:pPr marL="431797" lvl="1" indent="-215899" algn="l">
              <a:lnSpc>
                <a:spcPts val="31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Nextflow, Snakemake, Galaxy – Reproducible, version-controlled pipelines</a:t>
            </a:r>
          </a:p>
          <a:p>
            <a:pPr marL="431797" lvl="1" indent="-215899" algn="l">
              <a:lnSpc>
                <a:spcPts val="31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Peer-reviewed, community-curated workflows</a:t>
            </a:r>
          </a:p>
          <a:p>
            <a:pPr algn="l">
              <a:lnSpc>
                <a:spcPts val="3199"/>
              </a:lnSpc>
            </a:pPr>
            <a:r>
              <a:rPr lang="en-US" sz="19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Cloud Integration</a:t>
            </a:r>
          </a:p>
          <a:p>
            <a:pPr marL="431797" lvl="1" indent="-215899" algn="l">
              <a:lnSpc>
                <a:spcPts val="31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AWS, Google Cloud, Terra.bio – Scalable, consistent environments</a:t>
            </a:r>
          </a:p>
          <a:p>
            <a:pPr marL="431797" lvl="1" indent="-215899" algn="l">
              <a:lnSpc>
                <a:spcPts val="31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Run anywhere and collaborate easily</a:t>
            </a:r>
          </a:p>
          <a:p>
            <a:pPr algn="l">
              <a:lnSpc>
                <a:spcPts val="3199"/>
              </a:lnSpc>
            </a:pPr>
            <a:r>
              <a:rPr lang="en-US" sz="19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AI &amp; Machine Learning</a:t>
            </a:r>
          </a:p>
          <a:p>
            <a:pPr marL="431797" lvl="1" indent="-215899" algn="l">
              <a:lnSpc>
                <a:spcPts val="31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Prosit, DIA-NN, AlphaPept – Deep learning for spectra prediction</a:t>
            </a:r>
          </a:p>
          <a:p>
            <a:pPr algn="l">
              <a:lnSpc>
                <a:spcPts val="3199"/>
              </a:lnSpc>
            </a:pPr>
            <a:r>
              <a:rPr lang="en-US" sz="19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Containerization</a:t>
            </a:r>
          </a:p>
          <a:p>
            <a:pPr marL="431797" lvl="1" indent="-215899" algn="l">
              <a:lnSpc>
                <a:spcPts val="31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Docker, Singularity – Isolated, portable analysis environments</a:t>
            </a:r>
          </a:p>
          <a:p>
            <a:pPr marL="431797" lvl="1" indent="-215899" algn="l">
              <a:lnSpc>
                <a:spcPts val="31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Biocontainers – Ready-made containers for proteomics tools</a:t>
            </a:r>
          </a:p>
          <a:p>
            <a:pPr algn="l">
              <a:lnSpc>
                <a:spcPts val="3199"/>
              </a:lnSpc>
            </a:pPr>
            <a:r>
              <a:rPr lang="en-US" sz="19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 &amp; Reporting Standards</a:t>
            </a:r>
          </a:p>
          <a:p>
            <a:pPr marL="431797" lvl="1" indent="-215899" algn="l">
              <a:lnSpc>
                <a:spcPts val="31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mzML, mzIdentML, mzTab – Standardized data formats</a:t>
            </a:r>
          </a:p>
          <a:p>
            <a:pPr marL="431797" lvl="1" indent="-215899" algn="l">
              <a:lnSpc>
                <a:spcPts val="31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PRIDE, ProteomeXchange – Public data sharing</a:t>
            </a:r>
          </a:p>
          <a:p>
            <a:pPr algn="l">
              <a:lnSpc>
                <a:spcPts val="3199"/>
              </a:lnSpc>
            </a:pPr>
            <a:r>
              <a:rPr lang="en-US" sz="19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Community Best Practices</a:t>
            </a:r>
          </a:p>
          <a:p>
            <a:pPr marL="431797" lvl="1" indent="-215899" algn="l">
              <a:lnSpc>
                <a:spcPts val="31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Open-source collaboration – GitHub, nf-core</a:t>
            </a:r>
          </a:p>
          <a:p>
            <a:pPr marL="431797" lvl="1" indent="-215899" algn="l">
              <a:lnSpc>
                <a:spcPts val="31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Transparent documentation – Protocols, notebooks, wikis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778288" y="-2216465"/>
            <a:ext cx="4607176" cy="5421018"/>
          </a:xfrm>
          <a:custGeom>
            <a:avLst/>
            <a:gdLst/>
            <a:ahLst/>
            <a:cxnLst/>
            <a:rect l="l" t="t" r="r" b="b"/>
            <a:pathLst>
              <a:path w="4607176" h="5421018">
                <a:moveTo>
                  <a:pt x="0" y="0"/>
                </a:moveTo>
                <a:lnTo>
                  <a:pt x="4607176" y="0"/>
                </a:lnTo>
                <a:lnTo>
                  <a:pt x="4607176" y="5421018"/>
                </a:lnTo>
                <a:lnTo>
                  <a:pt x="0" y="5421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1028700"/>
            <a:ext cx="16053176" cy="7797040"/>
          </a:xfrm>
          <a:custGeom>
            <a:avLst/>
            <a:gdLst/>
            <a:ahLst/>
            <a:cxnLst/>
            <a:rect l="l" t="t" r="r" b="b"/>
            <a:pathLst>
              <a:path w="16053176" h="7797040">
                <a:moveTo>
                  <a:pt x="0" y="0"/>
                </a:moveTo>
                <a:lnTo>
                  <a:pt x="16053176" y="0"/>
                </a:lnTo>
                <a:lnTo>
                  <a:pt x="16053176" y="7797040"/>
                </a:lnTo>
                <a:lnTo>
                  <a:pt x="0" y="77970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849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351833" y="2099200"/>
            <a:ext cx="8566768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1">
                <a:solidFill>
                  <a:srgbClr val="000000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AIM AND OBJECTIVES</a:t>
            </a:r>
          </a:p>
        </p:txBody>
      </p:sp>
      <p:sp>
        <p:nvSpPr>
          <p:cNvPr id="5" name="Freeform 5"/>
          <p:cNvSpPr/>
          <p:nvPr/>
        </p:nvSpPr>
        <p:spPr>
          <a:xfrm>
            <a:off x="-3396456" y="4248457"/>
            <a:ext cx="4607176" cy="5421018"/>
          </a:xfrm>
          <a:custGeom>
            <a:avLst/>
            <a:gdLst/>
            <a:ahLst/>
            <a:cxnLst/>
            <a:rect l="l" t="t" r="r" b="b"/>
            <a:pathLst>
              <a:path w="4607176" h="5421018">
                <a:moveTo>
                  <a:pt x="0" y="0"/>
                </a:moveTo>
                <a:lnTo>
                  <a:pt x="4607175" y="0"/>
                </a:lnTo>
                <a:lnTo>
                  <a:pt x="4607175" y="5421019"/>
                </a:lnTo>
                <a:lnTo>
                  <a:pt x="0" y="5421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013594" y="3873069"/>
            <a:ext cx="11835211" cy="403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50"/>
              </a:lnSpc>
              <a:spcBef>
                <a:spcPct val="0"/>
              </a:spcBef>
            </a:pPr>
            <a:r>
              <a:rPr lang="en-US" sz="3000" spc="1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study aimed to </a:t>
            </a:r>
            <a:r>
              <a:rPr lang="en-US" sz="3000" b="1" spc="1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assess the reproducibility of currently available proteomics tools</a:t>
            </a:r>
            <a:r>
              <a:rPr lang="en-US" sz="3000" spc="1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by:</a:t>
            </a:r>
          </a:p>
          <a:p>
            <a:pPr algn="just">
              <a:lnSpc>
                <a:spcPts val="3150"/>
              </a:lnSpc>
              <a:spcBef>
                <a:spcPct val="0"/>
              </a:spcBef>
            </a:pPr>
            <a:endParaRPr lang="en-US" sz="3000" spc="10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47700" lvl="1" indent="-323850" algn="just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1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Mining tool metadata from the bio.tools registry</a:t>
            </a:r>
          </a:p>
          <a:p>
            <a:pPr algn="just">
              <a:lnSpc>
                <a:spcPts val="3150"/>
              </a:lnSpc>
              <a:spcBef>
                <a:spcPct val="0"/>
              </a:spcBef>
            </a:pPr>
            <a:endParaRPr lang="en-US" sz="3000" spc="10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47700" lvl="1" indent="-323850" algn="just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1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Filtering and categorizing tools relevant to proteomics</a:t>
            </a:r>
          </a:p>
          <a:p>
            <a:pPr algn="just">
              <a:lnSpc>
                <a:spcPts val="3150"/>
              </a:lnSpc>
              <a:spcBef>
                <a:spcPct val="0"/>
              </a:spcBef>
            </a:pPr>
            <a:endParaRPr lang="en-US" sz="3000" spc="10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47700" lvl="1" indent="-323850" algn="just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1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Scoring tools using reproducibility-focused criteria based on FAIR principles</a:t>
            </a:r>
          </a:p>
          <a:p>
            <a:pPr algn="just">
              <a:lnSpc>
                <a:spcPts val="3150"/>
              </a:lnSpc>
              <a:spcBef>
                <a:spcPct val="0"/>
              </a:spcBef>
            </a:pPr>
            <a:endParaRPr lang="en-US" sz="3000" spc="10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778288" y="-2216465"/>
            <a:ext cx="4607176" cy="5421018"/>
          </a:xfrm>
          <a:custGeom>
            <a:avLst/>
            <a:gdLst/>
            <a:ahLst/>
            <a:cxnLst/>
            <a:rect l="l" t="t" r="r" b="b"/>
            <a:pathLst>
              <a:path w="4607176" h="5421018">
                <a:moveTo>
                  <a:pt x="0" y="0"/>
                </a:moveTo>
                <a:lnTo>
                  <a:pt x="4607176" y="0"/>
                </a:lnTo>
                <a:lnTo>
                  <a:pt x="4607176" y="5421018"/>
                </a:lnTo>
                <a:lnTo>
                  <a:pt x="0" y="5421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54958" y="1028700"/>
            <a:ext cx="15034357" cy="8307679"/>
          </a:xfrm>
          <a:custGeom>
            <a:avLst/>
            <a:gdLst/>
            <a:ahLst/>
            <a:cxnLst/>
            <a:rect l="l" t="t" r="r" b="b"/>
            <a:pathLst>
              <a:path w="15034357" h="8307679">
                <a:moveTo>
                  <a:pt x="0" y="0"/>
                </a:moveTo>
                <a:lnTo>
                  <a:pt x="15034357" y="0"/>
                </a:lnTo>
                <a:lnTo>
                  <a:pt x="15034357" y="8307679"/>
                </a:lnTo>
                <a:lnTo>
                  <a:pt x="0" y="83076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6254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188752" y="2007352"/>
            <a:ext cx="8566768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1">
                <a:solidFill>
                  <a:srgbClr val="000000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METHODS</a:t>
            </a:r>
          </a:p>
        </p:txBody>
      </p:sp>
      <p:sp>
        <p:nvSpPr>
          <p:cNvPr id="5" name="Freeform 5"/>
          <p:cNvSpPr/>
          <p:nvPr/>
        </p:nvSpPr>
        <p:spPr>
          <a:xfrm>
            <a:off x="-3470198" y="4248457"/>
            <a:ext cx="4607176" cy="5421018"/>
          </a:xfrm>
          <a:custGeom>
            <a:avLst/>
            <a:gdLst/>
            <a:ahLst/>
            <a:cxnLst/>
            <a:rect l="l" t="t" r="r" b="b"/>
            <a:pathLst>
              <a:path w="4607176" h="5421018">
                <a:moveTo>
                  <a:pt x="0" y="0"/>
                </a:moveTo>
                <a:lnTo>
                  <a:pt x="4607175" y="0"/>
                </a:lnTo>
                <a:lnTo>
                  <a:pt x="4607175" y="5421019"/>
                </a:lnTo>
                <a:lnTo>
                  <a:pt x="0" y="5421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737894" y="2693424"/>
            <a:ext cx="13468484" cy="617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00"/>
              </a:lnSpc>
            </a:pPr>
            <a:r>
              <a:rPr lang="en-US" sz="2000" spc="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Tool </a:t>
            </a:r>
            <a:r>
              <a:rPr lang="en-US" sz="2000" b="1" spc="6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Discovery</a:t>
            </a:r>
          </a:p>
          <a:p>
            <a:pPr marL="431801" lvl="1" indent="-215900" algn="just">
              <a:lnSpc>
                <a:spcPts val="2600"/>
              </a:lnSpc>
              <a:buFont typeface="Arial"/>
              <a:buChar char="•"/>
            </a:pPr>
            <a:r>
              <a:rPr lang="en-US" sz="2000" spc="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Extracted proteomics tools from </a:t>
            </a:r>
            <a:r>
              <a:rPr lang="en-US" sz="2000" b="1" u="sng" spc="6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  <a:hlinkClick r:id="rId5" tooltip="https://bio.tools"/>
              </a:rPr>
              <a:t>bio.tools</a:t>
            </a:r>
            <a:r>
              <a:rPr lang="en-US" sz="2000" spc="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and converted to TSV using Python</a:t>
            </a:r>
          </a:p>
          <a:p>
            <a:pPr algn="just">
              <a:lnSpc>
                <a:spcPts val="2600"/>
              </a:lnSpc>
            </a:pPr>
            <a:endParaRPr lang="en-US" sz="2000" spc="68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600"/>
              </a:lnSpc>
            </a:pPr>
            <a:r>
              <a:rPr lang="en-US" sz="2000" b="1" spc="6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Key-word:</a:t>
            </a:r>
            <a:r>
              <a:rPr lang="en-US" sz="2000" spc="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proteomics</a:t>
            </a:r>
          </a:p>
          <a:p>
            <a:pPr algn="just">
              <a:lnSpc>
                <a:spcPts val="2600"/>
              </a:lnSpc>
            </a:pPr>
            <a:endParaRPr lang="en-US" sz="2000" spc="68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600"/>
              </a:lnSpc>
            </a:pPr>
            <a:r>
              <a:rPr lang="en-US" sz="2000" b="1" spc="6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Extracted</a:t>
            </a:r>
            <a:r>
              <a:rPr lang="en-US" sz="2000" spc="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the following </a:t>
            </a:r>
            <a:r>
              <a:rPr lang="en-US" sz="2000" b="1" spc="6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metadata</a:t>
            </a:r>
            <a:r>
              <a:rPr lang="en-US" sz="2000" spc="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marL="431801" lvl="1" indent="-215900" algn="just">
              <a:lnSpc>
                <a:spcPts val="2600"/>
              </a:lnSpc>
              <a:buFont typeface="Arial"/>
              <a:buChar char="•"/>
            </a:pPr>
            <a:r>
              <a:rPr lang="en-US" sz="2000" spc="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Name (of tool)</a:t>
            </a:r>
          </a:p>
          <a:p>
            <a:pPr marL="431801" lvl="1" indent="-215900" algn="just">
              <a:lnSpc>
                <a:spcPts val="2600"/>
              </a:lnSpc>
              <a:buFont typeface="Arial"/>
              <a:buChar char="•"/>
            </a:pPr>
            <a:r>
              <a:rPr lang="en-US" sz="2000" spc="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Homepage (website URL)</a:t>
            </a:r>
          </a:p>
          <a:p>
            <a:pPr marL="431801" lvl="1" indent="-215900" algn="just">
              <a:lnSpc>
                <a:spcPts val="2600"/>
              </a:lnSpc>
              <a:buFont typeface="Arial"/>
              <a:buChar char="•"/>
            </a:pPr>
            <a:r>
              <a:rPr lang="en-US" sz="2000" spc="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Description (summary of tool)</a:t>
            </a:r>
          </a:p>
          <a:p>
            <a:pPr marL="431801" lvl="1" indent="-215900" algn="just">
              <a:lnSpc>
                <a:spcPts val="2600"/>
              </a:lnSpc>
              <a:buFont typeface="Arial"/>
              <a:buChar char="•"/>
            </a:pPr>
            <a:r>
              <a:rPr lang="en-US" sz="2000" spc="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Version (usually empty)</a:t>
            </a:r>
          </a:p>
          <a:p>
            <a:pPr marL="431801" lvl="1" indent="-215900" algn="just">
              <a:lnSpc>
                <a:spcPts val="2600"/>
              </a:lnSpc>
              <a:buFont typeface="Arial"/>
              <a:buChar char="•"/>
            </a:pPr>
            <a:r>
              <a:rPr lang="en-US" sz="2000" spc="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Tool type (Command line, GUI, web application, database etc.)</a:t>
            </a:r>
          </a:p>
          <a:p>
            <a:pPr marL="431801" lvl="1" indent="-215900" algn="just">
              <a:lnSpc>
                <a:spcPts val="2600"/>
              </a:lnSpc>
              <a:buFont typeface="Arial"/>
              <a:buChar char="•"/>
            </a:pPr>
            <a:r>
              <a:rPr lang="en-US" sz="2000" spc="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Topic (list of topics related to tool e.g. protein structure, biomarker)</a:t>
            </a:r>
          </a:p>
          <a:p>
            <a:pPr marL="431801" lvl="1" indent="-215900" algn="just">
              <a:lnSpc>
                <a:spcPts val="2600"/>
              </a:lnSpc>
              <a:buFont typeface="Arial"/>
              <a:buChar char="•"/>
            </a:pPr>
            <a:r>
              <a:rPr lang="en-US" sz="2000" spc="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Publications (DOI, title, abstract, publication year)</a:t>
            </a:r>
          </a:p>
          <a:p>
            <a:pPr marL="431801" lvl="1" indent="-215900" algn="just">
              <a:lnSpc>
                <a:spcPts val="2600"/>
              </a:lnSpc>
              <a:buFont typeface="Arial"/>
              <a:buChar char="•"/>
            </a:pPr>
            <a:r>
              <a:rPr lang="en-US" sz="2000" spc="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Citations (number of times publication is cited)</a:t>
            </a:r>
          </a:p>
          <a:p>
            <a:pPr marL="431801" lvl="1" indent="-215900" algn="just">
              <a:lnSpc>
                <a:spcPts val="2600"/>
              </a:lnSpc>
              <a:buFont typeface="Arial"/>
              <a:buChar char="•"/>
            </a:pPr>
            <a:r>
              <a:rPr lang="en-US" sz="2000" spc="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Documentation (usually empty or GitHub)</a:t>
            </a:r>
          </a:p>
          <a:p>
            <a:pPr marL="431801" lvl="1" indent="-215900" algn="just">
              <a:lnSpc>
                <a:spcPts val="2600"/>
              </a:lnSpc>
              <a:buFont typeface="Arial"/>
              <a:buChar char="•"/>
            </a:pPr>
            <a:r>
              <a:rPr lang="en-US" sz="2000" spc="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Operating system (Mac, Linux, Windows)</a:t>
            </a:r>
          </a:p>
          <a:p>
            <a:pPr marL="431801" lvl="1" indent="-215900" algn="just">
              <a:lnSpc>
                <a:spcPts val="2600"/>
              </a:lnSpc>
              <a:buFont typeface="Arial"/>
              <a:buChar char="•"/>
            </a:pPr>
            <a:r>
              <a:rPr lang="en-US" sz="2000" spc="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Language (Python, R, C# etc.)</a:t>
            </a:r>
          </a:p>
          <a:p>
            <a:pPr marL="431801" lvl="1" indent="-215900" algn="just">
              <a:lnSpc>
                <a:spcPts val="2600"/>
              </a:lnSpc>
              <a:buFont typeface="Arial"/>
              <a:buChar char="•"/>
            </a:pPr>
            <a:r>
              <a:rPr lang="en-US" sz="2000" spc="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Accessibility (open-source, proprietary)</a:t>
            </a:r>
          </a:p>
          <a:p>
            <a:pPr marL="431801" lvl="1" indent="-215900" algn="just">
              <a:lnSpc>
                <a:spcPts val="2600"/>
              </a:lnSpc>
              <a:buFont typeface="Arial"/>
              <a:buChar char="•"/>
            </a:pPr>
            <a:r>
              <a:rPr lang="en-US" sz="2000" spc="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License (MIT, GPL-3.0, Apache-2.0 etc.)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10019423" cy="8520212"/>
          </a:xfrm>
          <a:custGeom>
            <a:avLst/>
            <a:gdLst/>
            <a:ahLst/>
            <a:cxnLst/>
            <a:rect l="l" t="t" r="r" b="b"/>
            <a:pathLst>
              <a:path w="10019423" h="8520212">
                <a:moveTo>
                  <a:pt x="0" y="0"/>
                </a:moveTo>
                <a:lnTo>
                  <a:pt x="10019423" y="0"/>
                </a:lnTo>
                <a:lnTo>
                  <a:pt x="10019423" y="8520212"/>
                </a:lnTo>
                <a:lnTo>
                  <a:pt x="0" y="8520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3335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612643" y="1028700"/>
            <a:ext cx="3885530" cy="8229600"/>
          </a:xfrm>
          <a:custGeom>
            <a:avLst/>
            <a:gdLst/>
            <a:ahLst/>
            <a:cxnLst/>
            <a:rect l="l" t="t" r="r" b="b"/>
            <a:pathLst>
              <a:path w="3885530" h="8229600">
                <a:moveTo>
                  <a:pt x="0" y="0"/>
                </a:moveTo>
                <a:lnTo>
                  <a:pt x="3885529" y="0"/>
                </a:lnTo>
                <a:lnTo>
                  <a:pt x="388552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295769" y="1297021"/>
            <a:ext cx="665812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1">
                <a:solidFill>
                  <a:srgbClr val="000000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FILTERING CRITERIA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00447" y="2506980"/>
            <a:ext cx="9275930" cy="6522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1800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Filtering </a:t>
            </a:r>
            <a:r>
              <a:rPr lang="en-US" sz="1800" b="1" spc="6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criteria</a:t>
            </a:r>
            <a:r>
              <a:rPr lang="en-US" sz="1800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marL="388620" lvl="1" indent="-194310" algn="just">
              <a:lnSpc>
                <a:spcPts val="2700"/>
              </a:lnSpc>
              <a:buFont typeface="Arial"/>
              <a:buChar char="•"/>
            </a:pPr>
            <a:r>
              <a:rPr lang="en-US" sz="1800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Open-source status or missing license</a:t>
            </a:r>
          </a:p>
          <a:p>
            <a:pPr marL="388620" lvl="1" indent="-194310" algn="just">
              <a:lnSpc>
                <a:spcPts val="2700"/>
              </a:lnSpc>
              <a:buFont typeface="Arial"/>
              <a:buChar char="•"/>
            </a:pPr>
            <a:r>
              <a:rPr lang="en-US" sz="1800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Proteomics-specific topics (e.g. “protein”, “proteomic”)</a:t>
            </a:r>
          </a:p>
          <a:p>
            <a:pPr marL="388620" lvl="1" indent="-194310" algn="just">
              <a:lnSpc>
                <a:spcPts val="2700"/>
              </a:lnSpc>
              <a:buFont typeface="Arial"/>
              <a:buChar char="•"/>
            </a:pPr>
            <a:r>
              <a:rPr lang="en-US" sz="1800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Specific tool types (command-line, workflow, script, library)</a:t>
            </a:r>
          </a:p>
          <a:p>
            <a:pPr marL="388620" lvl="1" indent="-194310" algn="just">
              <a:lnSpc>
                <a:spcPts val="2700"/>
              </a:lnSpc>
              <a:buFont typeface="Arial"/>
              <a:buChar char="•"/>
            </a:pPr>
            <a:r>
              <a:rPr lang="en-US" sz="1800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Functional DOI and URL</a:t>
            </a:r>
          </a:p>
          <a:p>
            <a:pPr marL="388620" lvl="1" indent="-194310" algn="just">
              <a:lnSpc>
                <a:spcPts val="2700"/>
              </a:lnSpc>
              <a:buFont typeface="Arial"/>
              <a:buChar char="•"/>
            </a:pPr>
            <a:r>
              <a:rPr lang="en-US" sz="1800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Exclusion of non-proteomics tools</a:t>
            </a:r>
          </a:p>
          <a:p>
            <a:pPr algn="just">
              <a:lnSpc>
                <a:spcPts val="2700"/>
              </a:lnSpc>
            </a:pPr>
            <a:endParaRPr lang="en-US" sz="1800" spc="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700"/>
              </a:lnSpc>
            </a:pPr>
            <a:r>
              <a:rPr lang="en-US" sz="1800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Additional tools were </a:t>
            </a:r>
            <a:r>
              <a:rPr lang="en-US" sz="1800" b="1" spc="6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removed</a:t>
            </a:r>
            <a:r>
              <a:rPr lang="en-US" sz="1800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during scoring process</a:t>
            </a:r>
          </a:p>
          <a:p>
            <a:pPr marL="388620" lvl="1" indent="-194310" algn="just">
              <a:lnSpc>
                <a:spcPts val="2700"/>
              </a:lnSpc>
              <a:buFont typeface="Arial"/>
              <a:buChar char="•"/>
            </a:pPr>
            <a:r>
              <a:rPr lang="en-US" sz="1800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URL works but leads to nothing</a:t>
            </a:r>
          </a:p>
          <a:p>
            <a:pPr marL="388620" lvl="1" indent="-194310" algn="just">
              <a:lnSpc>
                <a:spcPts val="2700"/>
              </a:lnSpc>
              <a:buFont typeface="Arial"/>
              <a:buChar char="•"/>
            </a:pPr>
            <a:r>
              <a:rPr lang="en-US" sz="1800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Tool no longer exists</a:t>
            </a:r>
          </a:p>
          <a:p>
            <a:pPr marL="388620" lvl="1" indent="-194310" algn="just">
              <a:lnSpc>
                <a:spcPts val="2700"/>
              </a:lnSpc>
              <a:buFont typeface="Arial"/>
              <a:buChar char="•"/>
            </a:pPr>
            <a:r>
              <a:rPr lang="en-US" sz="1800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Incorrectly or missing information</a:t>
            </a:r>
          </a:p>
          <a:p>
            <a:pPr algn="just">
              <a:lnSpc>
                <a:spcPts val="2700"/>
              </a:lnSpc>
            </a:pPr>
            <a:endParaRPr lang="en-US" sz="1800" spc="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700"/>
              </a:lnSpc>
            </a:pPr>
            <a:r>
              <a:rPr lang="en-US" sz="1800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Tools were also </a:t>
            </a:r>
            <a:r>
              <a:rPr lang="en-US" sz="1800" b="1" spc="6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categorized by function</a:t>
            </a:r>
            <a:r>
              <a:rPr lang="en-US" sz="1800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including:</a:t>
            </a:r>
          </a:p>
          <a:p>
            <a:pPr marL="388620" lvl="1" indent="-194310" algn="just">
              <a:lnSpc>
                <a:spcPts val="2700"/>
              </a:lnSpc>
              <a:buFont typeface="Arial"/>
              <a:buChar char="•"/>
            </a:pPr>
            <a:r>
              <a:rPr lang="en-US" sz="1800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Processing and Analysis</a:t>
            </a:r>
          </a:p>
          <a:p>
            <a:pPr marL="388620" lvl="1" indent="-194310" algn="just">
              <a:lnSpc>
                <a:spcPts val="2700"/>
              </a:lnSpc>
              <a:buFont typeface="Arial"/>
              <a:buChar char="•"/>
            </a:pPr>
            <a:r>
              <a:rPr lang="en-US" sz="1800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Niche and Miscellaneous Tools</a:t>
            </a:r>
          </a:p>
          <a:p>
            <a:pPr marL="388620" lvl="1" indent="-194310" algn="just">
              <a:lnSpc>
                <a:spcPts val="2700"/>
              </a:lnSpc>
              <a:buFont typeface="Arial"/>
              <a:buChar char="•"/>
            </a:pPr>
            <a:r>
              <a:rPr lang="en-US" sz="1800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Protein and Peptide Identification</a:t>
            </a:r>
          </a:p>
          <a:p>
            <a:pPr marL="388620" lvl="1" indent="-194310" algn="just">
              <a:lnSpc>
                <a:spcPts val="2700"/>
              </a:lnSpc>
              <a:buFont typeface="Arial"/>
              <a:buChar char="•"/>
            </a:pPr>
            <a:r>
              <a:rPr lang="en-US" sz="1800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Quantitative Proteomics</a:t>
            </a:r>
          </a:p>
          <a:p>
            <a:pPr marL="388620" lvl="1" indent="-194310" algn="just">
              <a:lnSpc>
                <a:spcPts val="2700"/>
              </a:lnSpc>
              <a:buFont typeface="Arial"/>
              <a:buChar char="•"/>
            </a:pPr>
            <a:r>
              <a:rPr lang="en-US" sz="1800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Machine Learning and Prediction</a:t>
            </a:r>
          </a:p>
          <a:p>
            <a:pPr marL="388620" lvl="1" indent="-194310" algn="just">
              <a:lnSpc>
                <a:spcPts val="2700"/>
              </a:lnSpc>
              <a:buFont typeface="Arial"/>
              <a:buChar char="•"/>
            </a:pPr>
            <a:r>
              <a:rPr lang="en-US" sz="1800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Visualization etc.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80824" y="6940470"/>
            <a:ext cx="4607176" cy="5421018"/>
          </a:xfrm>
          <a:custGeom>
            <a:avLst/>
            <a:gdLst/>
            <a:ahLst/>
            <a:cxnLst/>
            <a:rect l="l" t="t" r="r" b="b"/>
            <a:pathLst>
              <a:path w="4607176" h="5421018">
                <a:moveTo>
                  <a:pt x="0" y="0"/>
                </a:moveTo>
                <a:lnTo>
                  <a:pt x="4607176" y="0"/>
                </a:lnTo>
                <a:lnTo>
                  <a:pt x="4607176" y="5421018"/>
                </a:lnTo>
                <a:lnTo>
                  <a:pt x="0" y="5421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3125498" y="1885950"/>
            <a:ext cx="3980834" cy="7612062"/>
          </a:xfrm>
          <a:custGeom>
            <a:avLst/>
            <a:gdLst/>
            <a:ahLst/>
            <a:cxnLst/>
            <a:rect l="l" t="t" r="r" b="b"/>
            <a:pathLst>
              <a:path w="3980834" h="7612062">
                <a:moveTo>
                  <a:pt x="0" y="0"/>
                </a:moveTo>
                <a:lnTo>
                  <a:pt x="3980834" y="0"/>
                </a:lnTo>
                <a:lnTo>
                  <a:pt x="3980834" y="7612062"/>
                </a:lnTo>
                <a:lnTo>
                  <a:pt x="0" y="76120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3730" r="-89559" b="-200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5389644" y="1929765"/>
            <a:ext cx="3676570" cy="4693069"/>
          </a:xfrm>
          <a:custGeom>
            <a:avLst/>
            <a:gdLst/>
            <a:ahLst/>
            <a:cxnLst/>
            <a:rect l="l" t="t" r="r" b="b"/>
            <a:pathLst>
              <a:path w="3676570" h="4693069">
                <a:moveTo>
                  <a:pt x="0" y="0"/>
                </a:moveTo>
                <a:lnTo>
                  <a:pt x="3676570" y="0"/>
                </a:lnTo>
                <a:lnTo>
                  <a:pt x="3676570" y="4693069"/>
                </a:lnTo>
                <a:lnTo>
                  <a:pt x="0" y="46930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4369" t="-933" r="-68569" b="-2372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300228" y="1907173"/>
            <a:ext cx="3615721" cy="3989070"/>
          </a:xfrm>
          <a:custGeom>
            <a:avLst/>
            <a:gdLst/>
            <a:ahLst/>
            <a:cxnLst/>
            <a:rect l="l" t="t" r="r" b="b"/>
            <a:pathLst>
              <a:path w="3615721" h="3989070">
                <a:moveTo>
                  <a:pt x="0" y="0"/>
                </a:moveTo>
                <a:lnTo>
                  <a:pt x="3615720" y="0"/>
                </a:lnTo>
                <a:lnTo>
                  <a:pt x="3615720" y="3989070"/>
                </a:lnTo>
                <a:lnTo>
                  <a:pt x="0" y="39890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4393" r="-49208" b="-1878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28700" y="1028700"/>
            <a:ext cx="16074186" cy="901065"/>
          </a:xfrm>
          <a:custGeom>
            <a:avLst/>
            <a:gdLst/>
            <a:ahLst/>
            <a:cxnLst/>
            <a:rect l="l" t="t" r="r" b="b"/>
            <a:pathLst>
              <a:path w="16074186" h="901065">
                <a:moveTo>
                  <a:pt x="0" y="0"/>
                </a:moveTo>
                <a:lnTo>
                  <a:pt x="16074186" y="0"/>
                </a:lnTo>
                <a:lnTo>
                  <a:pt x="16074186" y="901065"/>
                </a:lnTo>
                <a:lnTo>
                  <a:pt x="0" y="9010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266" t="-297370" r="-4268" b="-86883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77627" y="1907173"/>
            <a:ext cx="4102467" cy="4738253"/>
          </a:xfrm>
          <a:custGeom>
            <a:avLst/>
            <a:gdLst/>
            <a:ahLst/>
            <a:cxnLst/>
            <a:rect l="l" t="t" r="r" b="b"/>
            <a:pathLst>
              <a:path w="4102467" h="4738253">
                <a:moveTo>
                  <a:pt x="0" y="0"/>
                </a:moveTo>
                <a:lnTo>
                  <a:pt x="4102467" y="0"/>
                </a:lnTo>
                <a:lnTo>
                  <a:pt x="4102467" y="4738253"/>
                </a:lnTo>
                <a:lnTo>
                  <a:pt x="0" y="47382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0909" r="-3090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8136255"/>
            <a:ext cx="4283524" cy="1122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49"/>
              </a:lnSpc>
            </a:pPr>
            <a:r>
              <a:rPr lang="en-US" sz="1799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criteria are loosely based on the work done by Sandve et al., 2013 and Ziemann, Poulain, Bora, 2023.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54763" y="7355205"/>
            <a:ext cx="3378475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999" b="1">
                <a:solidFill>
                  <a:srgbClr val="000000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SCORING SYSTEM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7627" y="1901190"/>
            <a:ext cx="4102467" cy="4874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799" b="1" spc="6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Preservation/archive of data and software</a:t>
            </a:r>
          </a:p>
          <a:p>
            <a:pPr marL="388620" lvl="1" indent="-194310" algn="l">
              <a:lnSpc>
                <a:spcPts val="2249"/>
              </a:lnSpc>
              <a:buFont typeface="Arial"/>
              <a:buChar char="•"/>
            </a:pPr>
            <a:r>
              <a:rPr lang="en-US" sz="1799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Not archived or hosted in unreliable locations</a:t>
            </a:r>
          </a:p>
          <a:p>
            <a:pPr marL="388620" lvl="1" indent="-194310" algn="l">
              <a:lnSpc>
                <a:spcPts val="2249"/>
              </a:lnSpc>
              <a:buFont typeface="Arial"/>
              <a:buChar char="•"/>
            </a:pPr>
            <a:r>
              <a:rPr lang="en-US" sz="1799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Archived in a trusted repository</a:t>
            </a:r>
          </a:p>
          <a:p>
            <a:pPr marL="388620" lvl="1" indent="-194310" algn="l">
              <a:lnSpc>
                <a:spcPts val="2249"/>
              </a:lnSpc>
              <a:buFont typeface="Arial"/>
              <a:buChar char="•"/>
            </a:pPr>
            <a:r>
              <a:rPr lang="en-US" sz="1799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Tool &amp; data archived in Zenodo/ProteomeXchange</a:t>
            </a:r>
          </a:p>
          <a:p>
            <a:pPr algn="l">
              <a:lnSpc>
                <a:spcPts val="2249"/>
              </a:lnSpc>
            </a:pPr>
            <a:endParaRPr lang="en-US" sz="1799" spc="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249"/>
              </a:lnSpc>
            </a:pPr>
            <a:r>
              <a:rPr lang="en-US" sz="1799" b="1" spc="6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Version control</a:t>
            </a:r>
          </a:p>
          <a:p>
            <a:pPr marL="388620" lvl="1" indent="-194310" algn="l">
              <a:lnSpc>
                <a:spcPts val="2249"/>
              </a:lnSpc>
              <a:buFont typeface="Arial"/>
              <a:buChar char="•"/>
            </a:pPr>
            <a:r>
              <a:rPr lang="en-US" sz="1799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version control; deprecated</a:t>
            </a:r>
          </a:p>
          <a:p>
            <a:pPr marL="388620" lvl="1" indent="-194310" algn="l">
              <a:lnSpc>
                <a:spcPts val="2249"/>
              </a:lnSpc>
              <a:buFont typeface="Arial"/>
              <a:buChar char="•"/>
            </a:pPr>
            <a:r>
              <a:rPr lang="en-US" sz="1799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Inconsistent or minimal updates</a:t>
            </a:r>
          </a:p>
          <a:p>
            <a:pPr marL="388620" lvl="1" indent="-194310" algn="l">
              <a:lnSpc>
                <a:spcPts val="2249"/>
              </a:lnSpc>
              <a:buFont typeface="Arial"/>
              <a:buChar char="•"/>
            </a:pPr>
            <a:r>
              <a:rPr lang="en-US" sz="1799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Active version control, changelogs, regular updates</a:t>
            </a:r>
          </a:p>
          <a:p>
            <a:pPr algn="l">
              <a:lnSpc>
                <a:spcPts val="2249"/>
              </a:lnSpc>
            </a:pPr>
            <a:endParaRPr lang="en-US" sz="1799" spc="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125498" y="1901190"/>
            <a:ext cx="3977387" cy="7446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799" b="1" spc="6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Assessment against benchmarks</a:t>
            </a:r>
          </a:p>
          <a:p>
            <a:pPr marL="388620" lvl="1" indent="-194310" algn="l">
              <a:lnSpc>
                <a:spcPts val="2249"/>
              </a:lnSpc>
              <a:buFont typeface="Arial"/>
              <a:buChar char="•"/>
            </a:pPr>
            <a:r>
              <a:rPr lang="en-US" sz="1799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benchmarking reported</a:t>
            </a:r>
          </a:p>
          <a:p>
            <a:pPr marL="388620" lvl="1" indent="-194310" algn="l">
              <a:lnSpc>
                <a:spcPts val="2249"/>
              </a:lnSpc>
              <a:buFont typeface="Arial"/>
              <a:buChar char="•"/>
            </a:pPr>
            <a:r>
              <a:rPr lang="en-US" sz="1799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Tested only at launch</a:t>
            </a:r>
          </a:p>
          <a:p>
            <a:pPr marL="388620" lvl="1" indent="-194310" algn="l">
              <a:lnSpc>
                <a:spcPts val="2249"/>
              </a:lnSpc>
              <a:buFont typeface="Arial"/>
              <a:buChar char="•"/>
            </a:pPr>
            <a:r>
              <a:rPr lang="en-US" sz="1799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Regular benchmarking with updates</a:t>
            </a:r>
          </a:p>
          <a:p>
            <a:pPr algn="l">
              <a:lnSpc>
                <a:spcPts val="2249"/>
              </a:lnSpc>
            </a:pPr>
            <a:r>
              <a:rPr lang="en-US" sz="1799" b="1" spc="6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Containerization</a:t>
            </a:r>
          </a:p>
          <a:p>
            <a:pPr marL="388620" lvl="1" indent="-194310" algn="l">
              <a:lnSpc>
                <a:spcPts val="2249"/>
              </a:lnSpc>
              <a:buFont typeface="Arial"/>
              <a:buChar char="•"/>
            </a:pPr>
            <a:r>
              <a:rPr lang="en-US" sz="1799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Not containerized; manual management</a:t>
            </a:r>
          </a:p>
          <a:p>
            <a:pPr marL="388620" lvl="1" indent="-194310" algn="l">
              <a:lnSpc>
                <a:spcPts val="2249"/>
              </a:lnSpc>
              <a:buFont typeface="Arial"/>
              <a:buChar char="•"/>
            </a:pPr>
            <a:r>
              <a:rPr lang="en-US" sz="1799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Partial containers</a:t>
            </a:r>
          </a:p>
          <a:p>
            <a:pPr marL="388620" lvl="1" indent="-194310" algn="l">
              <a:lnSpc>
                <a:spcPts val="2249"/>
              </a:lnSpc>
              <a:buFont typeface="Arial"/>
              <a:buChar char="•"/>
            </a:pPr>
            <a:r>
              <a:rPr lang="en-US" sz="1799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Fully containerized</a:t>
            </a:r>
          </a:p>
          <a:p>
            <a:pPr algn="l">
              <a:lnSpc>
                <a:spcPts val="2249"/>
              </a:lnSpc>
            </a:pPr>
            <a:r>
              <a:rPr lang="en-US" sz="1799" b="1" spc="6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Manuals, documentation, logging, and reporting</a:t>
            </a:r>
          </a:p>
          <a:p>
            <a:pPr marL="388620" lvl="1" indent="-194310" algn="l">
              <a:lnSpc>
                <a:spcPts val="2249"/>
              </a:lnSpc>
              <a:buFont typeface="Arial"/>
              <a:buChar char="•"/>
            </a:pPr>
            <a:r>
              <a:rPr lang="en-US" sz="1799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manual or unclear documentation</a:t>
            </a:r>
          </a:p>
          <a:p>
            <a:pPr marL="388620" lvl="1" indent="-194310" algn="l">
              <a:lnSpc>
                <a:spcPts val="2249"/>
              </a:lnSpc>
              <a:buFont typeface="Arial"/>
              <a:buChar char="•"/>
            </a:pPr>
            <a:r>
              <a:rPr lang="en-US" sz="1799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Partial documentation, limited logging</a:t>
            </a:r>
          </a:p>
          <a:p>
            <a:pPr marL="388620" lvl="1" indent="-194310" algn="l">
              <a:lnSpc>
                <a:spcPts val="2249"/>
              </a:lnSpc>
              <a:buFont typeface="Arial"/>
              <a:buChar char="•"/>
            </a:pPr>
            <a:r>
              <a:rPr lang="en-US" sz="1799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Full manual, detailed docs, complete logs</a:t>
            </a:r>
          </a:p>
          <a:p>
            <a:pPr algn="l">
              <a:lnSpc>
                <a:spcPts val="2249"/>
              </a:lnSpc>
            </a:pPr>
            <a:r>
              <a:rPr lang="en-US" sz="1799" b="1" spc="6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Scalability and parallelization</a:t>
            </a:r>
          </a:p>
          <a:p>
            <a:pPr marL="388620" lvl="1" indent="-194310" algn="l">
              <a:lnSpc>
                <a:spcPts val="2249"/>
              </a:lnSpc>
              <a:buFont typeface="Arial"/>
              <a:buChar char="•"/>
            </a:pPr>
            <a:r>
              <a:rPr lang="en-US" sz="1799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Cannot handle large datasets; no HPC/cloud support</a:t>
            </a:r>
          </a:p>
          <a:p>
            <a:pPr marL="388620" lvl="1" indent="-194310" algn="l">
              <a:lnSpc>
                <a:spcPts val="2249"/>
              </a:lnSpc>
              <a:buFont typeface="Arial"/>
              <a:buChar char="•"/>
            </a:pPr>
            <a:r>
              <a:rPr lang="en-US" sz="1799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Moderate scalability</a:t>
            </a:r>
          </a:p>
          <a:p>
            <a:pPr marL="388620" lvl="1" indent="-194310" algn="l">
              <a:lnSpc>
                <a:spcPts val="2249"/>
              </a:lnSpc>
              <a:buFont typeface="Arial"/>
              <a:buChar char="•"/>
            </a:pPr>
            <a:r>
              <a:rPr lang="en-US" sz="1799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Supports HPC, cloud, distributed computing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24691" y="1901190"/>
            <a:ext cx="3591257" cy="401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799" b="1" spc="6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Workflow management systems</a:t>
            </a:r>
          </a:p>
          <a:p>
            <a:pPr marL="388620" lvl="1" indent="-194310" algn="l">
              <a:lnSpc>
                <a:spcPts val="2249"/>
              </a:lnSpc>
              <a:buFont typeface="Arial"/>
              <a:buChar char="•"/>
            </a:pPr>
            <a:r>
              <a:rPr lang="en-US" sz="1799" spc="6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Cannot integrate with WMS</a:t>
            </a:r>
          </a:p>
          <a:p>
            <a:pPr marL="388620" lvl="1" indent="-194310" algn="l">
              <a:lnSpc>
                <a:spcPts val="2249"/>
              </a:lnSpc>
              <a:buFont typeface="Arial"/>
              <a:buChar char="•"/>
            </a:pPr>
            <a:r>
              <a:rPr lang="en-US" sz="1799" spc="6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Usable in Snakemake, Galaxy</a:t>
            </a:r>
          </a:p>
          <a:p>
            <a:pPr marL="388620" lvl="1" indent="-194310" algn="l">
              <a:lnSpc>
                <a:spcPts val="2249"/>
              </a:lnSpc>
              <a:buFont typeface="Arial"/>
              <a:buChar char="•"/>
            </a:pPr>
            <a:r>
              <a:rPr lang="en-US" sz="1799" spc="6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Fully integrated with WMS</a:t>
            </a:r>
          </a:p>
          <a:p>
            <a:pPr algn="l">
              <a:lnSpc>
                <a:spcPts val="2249"/>
              </a:lnSpc>
            </a:pPr>
            <a:endParaRPr lang="en-US" sz="1799" spc="61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249"/>
              </a:lnSpc>
            </a:pPr>
            <a:r>
              <a:rPr lang="en-US" sz="1799" b="1" spc="6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Standardized input and output formats</a:t>
            </a:r>
          </a:p>
          <a:p>
            <a:pPr marL="388620" lvl="1" indent="-194310" algn="l">
              <a:lnSpc>
                <a:spcPts val="2249"/>
              </a:lnSpc>
              <a:buFont typeface="Arial"/>
              <a:buChar char="•"/>
            </a:pPr>
            <a:r>
              <a:rPr lang="en-US" sz="1799" spc="6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Unknown or non-standard</a:t>
            </a:r>
          </a:p>
          <a:p>
            <a:pPr marL="388620" lvl="1" indent="-194310" algn="l">
              <a:lnSpc>
                <a:spcPts val="2249"/>
              </a:lnSpc>
              <a:buFont typeface="Arial"/>
              <a:buChar char="•"/>
            </a:pPr>
            <a:r>
              <a:rPr lang="en-US" sz="1799" spc="6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Convertible with effort</a:t>
            </a:r>
          </a:p>
          <a:p>
            <a:pPr marL="388620" lvl="1" indent="-194310" algn="l">
              <a:lnSpc>
                <a:spcPts val="2249"/>
              </a:lnSpc>
              <a:buFont typeface="Arial"/>
              <a:buChar char="•"/>
            </a:pPr>
            <a:r>
              <a:rPr lang="en-US" sz="1799" spc="6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Uses standardized formats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89644" y="1901190"/>
            <a:ext cx="3676570" cy="458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799" b="1" spc="6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Licensing and legal</a:t>
            </a:r>
          </a:p>
          <a:p>
            <a:pPr marL="388620" lvl="1" indent="-194310" algn="l">
              <a:lnSpc>
                <a:spcPts val="2249"/>
              </a:lnSpc>
              <a:buFont typeface="Arial"/>
              <a:buChar char="•"/>
            </a:pPr>
            <a:r>
              <a:rPr lang="en-US" sz="1799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Proprietary or restricted access</a:t>
            </a:r>
          </a:p>
          <a:p>
            <a:pPr marL="388620" lvl="1" indent="-194310" algn="l">
              <a:lnSpc>
                <a:spcPts val="2249"/>
              </a:lnSpc>
              <a:buFont typeface="Arial"/>
              <a:buChar char="•"/>
            </a:pPr>
            <a:r>
              <a:rPr lang="en-US" sz="1799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Open source with restrictions</a:t>
            </a:r>
          </a:p>
          <a:p>
            <a:pPr marL="388620" lvl="1" indent="-194310" algn="l">
              <a:lnSpc>
                <a:spcPts val="2249"/>
              </a:lnSpc>
              <a:buFont typeface="Arial"/>
              <a:buChar char="•"/>
            </a:pPr>
            <a:r>
              <a:rPr lang="en-US" sz="1799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Fully open-source (e.g., MIT, Apache)</a:t>
            </a:r>
          </a:p>
          <a:p>
            <a:pPr algn="l">
              <a:lnSpc>
                <a:spcPts val="2249"/>
              </a:lnSpc>
            </a:pPr>
            <a:endParaRPr lang="en-US" sz="1799" spc="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249"/>
              </a:lnSpc>
            </a:pPr>
            <a:r>
              <a:rPr lang="en-US" sz="1799" b="1" spc="6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Community engagement</a:t>
            </a:r>
          </a:p>
          <a:p>
            <a:pPr marL="388620" lvl="1" indent="-194310" algn="l">
              <a:lnSpc>
                <a:spcPts val="2249"/>
              </a:lnSpc>
              <a:buFont typeface="Arial"/>
              <a:buChar char="•"/>
            </a:pPr>
            <a:r>
              <a:rPr lang="en-US" sz="1799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engagement or support</a:t>
            </a:r>
          </a:p>
          <a:p>
            <a:pPr marL="388620" lvl="1" indent="-194310" algn="l">
              <a:lnSpc>
                <a:spcPts val="2249"/>
              </a:lnSpc>
              <a:buFont typeface="Arial"/>
              <a:buChar char="•"/>
            </a:pPr>
            <a:r>
              <a:rPr lang="en-US" sz="1799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Minimal engagement on one platform</a:t>
            </a:r>
          </a:p>
          <a:p>
            <a:pPr marL="388620" lvl="1" indent="-194310" algn="l">
              <a:lnSpc>
                <a:spcPts val="2249"/>
              </a:lnSpc>
              <a:buFont typeface="Arial"/>
              <a:buChar char="•"/>
            </a:pPr>
            <a:r>
              <a:rPr lang="en-US" sz="1799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Active engagement across platforms (GitHub, forums, Q&amp;A)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8619959" cy="8433354"/>
          </a:xfrm>
          <a:custGeom>
            <a:avLst/>
            <a:gdLst/>
            <a:ahLst/>
            <a:cxnLst/>
            <a:rect l="l" t="t" r="r" b="b"/>
            <a:pathLst>
              <a:path w="8619959" h="8433354">
                <a:moveTo>
                  <a:pt x="0" y="0"/>
                </a:moveTo>
                <a:lnTo>
                  <a:pt x="8619959" y="0"/>
                </a:lnTo>
                <a:lnTo>
                  <a:pt x="8619959" y="8433354"/>
                </a:lnTo>
                <a:lnTo>
                  <a:pt x="0" y="8433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591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390656" y="-1681809"/>
            <a:ext cx="4607176" cy="5421018"/>
          </a:xfrm>
          <a:custGeom>
            <a:avLst/>
            <a:gdLst/>
            <a:ahLst/>
            <a:cxnLst/>
            <a:rect l="l" t="t" r="r" b="b"/>
            <a:pathLst>
              <a:path w="4607176" h="5421018">
                <a:moveTo>
                  <a:pt x="0" y="0"/>
                </a:moveTo>
                <a:lnTo>
                  <a:pt x="4607176" y="0"/>
                </a:lnTo>
                <a:lnTo>
                  <a:pt x="4607176" y="5421018"/>
                </a:lnTo>
                <a:lnTo>
                  <a:pt x="0" y="54210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3633" y="868896"/>
            <a:ext cx="8193394" cy="7684955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1312" y="4711373"/>
            <a:ext cx="7789710" cy="4848197"/>
          </a:xfrm>
          <a:prstGeom prst="rect">
            <a:avLst/>
          </a:prstGeom>
        </p:spPr>
      </p:pic>
      <p:sp>
        <p:nvSpPr>
          <p:cNvPr id="6" name="Freeform 6"/>
          <p:cNvSpPr/>
          <p:nvPr/>
        </p:nvSpPr>
        <p:spPr>
          <a:xfrm rot="10144398" flipV="1">
            <a:off x="6956015" y="6330824"/>
            <a:ext cx="3076977" cy="957709"/>
          </a:xfrm>
          <a:custGeom>
            <a:avLst/>
            <a:gdLst/>
            <a:ahLst/>
            <a:cxnLst/>
            <a:rect l="l" t="t" r="r" b="b"/>
            <a:pathLst>
              <a:path w="3076977" h="957709">
                <a:moveTo>
                  <a:pt x="0" y="957709"/>
                </a:moveTo>
                <a:lnTo>
                  <a:pt x="3076976" y="957709"/>
                </a:lnTo>
                <a:lnTo>
                  <a:pt x="3076976" y="0"/>
                </a:lnTo>
                <a:lnTo>
                  <a:pt x="0" y="0"/>
                </a:lnTo>
                <a:lnTo>
                  <a:pt x="0" y="95770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353788" y="2474862"/>
            <a:ext cx="7790212" cy="2644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90"/>
              </a:lnSpc>
              <a:spcBef>
                <a:spcPct val="0"/>
              </a:spcBef>
            </a:pPr>
            <a:r>
              <a:rPr lang="en-US" sz="1800" b="1" spc="6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Tool distribution</a:t>
            </a:r>
            <a:r>
              <a:rPr lang="en-US" sz="1800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by reproducibility level:</a:t>
            </a:r>
          </a:p>
          <a:p>
            <a:pPr marL="388620" lvl="1" indent="-194310" algn="just">
              <a:lnSpc>
                <a:spcPts val="189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🔴 14 tools: Performed poorly (Level 1)</a:t>
            </a:r>
          </a:p>
          <a:p>
            <a:pPr marL="388620" lvl="1" indent="-194310" algn="just">
              <a:lnSpc>
                <a:spcPts val="189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🟡 42 tools: Average reproducibility (Level 2)</a:t>
            </a:r>
          </a:p>
          <a:p>
            <a:pPr marL="388620" lvl="1" indent="-194310" algn="just">
              <a:lnSpc>
                <a:spcPts val="189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🟢 31 tools: Good reproducibility (Level 3)</a:t>
            </a:r>
          </a:p>
          <a:p>
            <a:pPr algn="just">
              <a:lnSpc>
                <a:spcPts val="1890"/>
              </a:lnSpc>
              <a:spcBef>
                <a:spcPct val="0"/>
              </a:spcBef>
            </a:pPr>
            <a:endParaRPr lang="en-US" sz="1800" spc="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88620" lvl="1" indent="-194310" algn="just">
              <a:lnSpc>
                <a:spcPts val="189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High-scoring tools (Level 3) were largely:</a:t>
            </a:r>
          </a:p>
          <a:p>
            <a:pPr marL="777240" lvl="2" indent="-259080" algn="just">
              <a:lnSpc>
                <a:spcPts val="1890"/>
              </a:lnSpc>
              <a:spcBef>
                <a:spcPct val="0"/>
              </a:spcBef>
              <a:buFont typeface="Arial"/>
              <a:buChar char="⚬"/>
            </a:pPr>
            <a:r>
              <a:rPr lang="en-US" sz="1800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Focused on protein and peptide identification</a:t>
            </a:r>
          </a:p>
          <a:p>
            <a:pPr marL="777240" lvl="2" indent="-259080" algn="just">
              <a:lnSpc>
                <a:spcPts val="1890"/>
              </a:lnSpc>
              <a:spcBef>
                <a:spcPct val="0"/>
              </a:spcBef>
              <a:buFont typeface="Arial"/>
              <a:buChar char="⚬"/>
            </a:pPr>
            <a:r>
              <a:rPr lang="en-US" sz="1800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Related to data processing and analysis</a:t>
            </a:r>
          </a:p>
          <a:p>
            <a:pPr marL="777240" lvl="2" indent="-259080" algn="just">
              <a:lnSpc>
                <a:spcPts val="1890"/>
              </a:lnSpc>
              <a:spcBef>
                <a:spcPct val="0"/>
              </a:spcBef>
              <a:buFont typeface="Arial"/>
              <a:buChar char="⚬"/>
            </a:pPr>
            <a:r>
              <a:rPr lang="en-US" sz="1800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Part of or compatible with the </a:t>
            </a:r>
            <a:r>
              <a:rPr lang="en-US" sz="1800" b="1" spc="6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Trans-Proteomic Pipeline</a:t>
            </a:r>
            <a:r>
              <a:rPr lang="en-US" sz="1800" spc="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(TPP), including: Comet, MS-GF+, PeptideProphet, PeptideShaker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3711" y="8448675"/>
            <a:ext cx="6975589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1">
                <a:solidFill>
                  <a:srgbClr val="000000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REPRODUCIBILITY DISTRIBUTION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76325"/>
            <a:ext cx="3932968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1">
                <a:solidFill>
                  <a:srgbClr val="000000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DISCUSSION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633538"/>
            <a:ext cx="16230600" cy="7162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24"/>
              </a:lnSpc>
              <a:spcBef>
                <a:spcPct val="0"/>
              </a:spcBef>
            </a:pP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 The proteomic </a:t>
            </a:r>
            <a:r>
              <a:rPr lang="en-US" sz="2499" b="1" spc="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reproducibility crisis is real</a:t>
            </a:r>
          </a:p>
          <a:p>
            <a:pPr marL="539749" lvl="1" indent="-269875" algn="just">
              <a:lnSpc>
                <a:spcPts val="2624"/>
              </a:lnSpc>
              <a:buFont typeface="Arial"/>
              <a:buChar char="•"/>
            </a:pP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Many tools lack basic reproducibility standards</a:t>
            </a:r>
          </a:p>
          <a:p>
            <a:pPr algn="just">
              <a:lnSpc>
                <a:spcPts val="2624"/>
              </a:lnSpc>
              <a:spcBef>
                <a:spcPct val="0"/>
              </a:spcBef>
            </a:pPr>
            <a:endParaRPr lang="en-US" sz="2499" spc="84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624"/>
              </a:lnSpc>
              <a:spcBef>
                <a:spcPct val="0"/>
              </a:spcBef>
            </a:pP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 </a:t>
            </a:r>
            <a:r>
              <a:rPr lang="en-US" sz="2499" b="1" spc="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Community-driven, open-source frameworks</a:t>
            </a: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lead to higher reprodubility</a:t>
            </a:r>
          </a:p>
          <a:p>
            <a:pPr marL="539749" lvl="1" indent="-269875" algn="just">
              <a:lnSpc>
                <a:spcPts val="2624"/>
              </a:lnSpc>
              <a:buFont typeface="Arial"/>
              <a:buChar char="•"/>
            </a:pP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Tools built around active user bases, modular designs, and containerization offer blueprints for sustainable, reproducible software</a:t>
            </a:r>
          </a:p>
          <a:p>
            <a:pPr algn="just">
              <a:lnSpc>
                <a:spcPts val="2624"/>
              </a:lnSpc>
              <a:spcBef>
                <a:spcPct val="0"/>
              </a:spcBef>
            </a:pPr>
            <a:endParaRPr lang="en-US" sz="2499" spc="84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624"/>
              </a:lnSpc>
              <a:spcBef>
                <a:spcPct val="0"/>
              </a:spcBef>
            </a:pP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 </a:t>
            </a:r>
            <a:r>
              <a:rPr lang="en-US" sz="2499" b="1" spc="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Usability matters</a:t>
            </a: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just as much as reproducibility.</a:t>
            </a:r>
          </a:p>
          <a:p>
            <a:pPr marL="539749" lvl="1" indent="-269875" algn="just">
              <a:lnSpc>
                <a:spcPts val="2624"/>
              </a:lnSpc>
              <a:buFont typeface="Arial"/>
              <a:buChar char="•"/>
            </a:pP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Tools that are hard to install or poorly documented may be technically sound but fail to gain adoption</a:t>
            </a:r>
          </a:p>
          <a:p>
            <a:pPr algn="just">
              <a:lnSpc>
                <a:spcPts val="2624"/>
              </a:lnSpc>
              <a:spcBef>
                <a:spcPct val="0"/>
              </a:spcBef>
            </a:pPr>
            <a:endParaRPr lang="en-US" sz="2499" spc="84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624"/>
              </a:lnSpc>
              <a:spcBef>
                <a:spcPct val="0"/>
              </a:spcBef>
            </a:pP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4. High reproducibility didn’t always equal </a:t>
            </a:r>
            <a:r>
              <a:rPr lang="en-US" sz="2499" b="1" spc="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popularity</a:t>
            </a:r>
          </a:p>
          <a:p>
            <a:pPr marL="539749" lvl="1" indent="-269875" algn="just">
              <a:lnSpc>
                <a:spcPts val="2624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Some older, less reproducible tools remain widely used due to legacy compatibility or ease of use</a:t>
            </a:r>
          </a:p>
          <a:p>
            <a:pPr algn="just">
              <a:lnSpc>
                <a:spcPts val="2624"/>
              </a:lnSpc>
              <a:spcBef>
                <a:spcPct val="0"/>
              </a:spcBef>
            </a:pPr>
            <a:endParaRPr lang="en-US" sz="2499" spc="84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624"/>
              </a:lnSpc>
              <a:spcBef>
                <a:spcPct val="0"/>
              </a:spcBef>
            </a:pP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5. Choice still driven by </a:t>
            </a:r>
            <a:r>
              <a:rPr lang="en-US" sz="2499" b="1" spc="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experimental needs</a:t>
            </a: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not reproducibility</a:t>
            </a:r>
          </a:p>
          <a:p>
            <a:pPr marL="539749" lvl="1" indent="-269875" algn="just">
              <a:lnSpc>
                <a:spcPts val="2624"/>
              </a:lnSpc>
              <a:buFont typeface="Arial"/>
              <a:buChar char="•"/>
            </a:pP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Users will always choose easy-to-use tools that are ‘good enough’</a:t>
            </a:r>
          </a:p>
          <a:p>
            <a:pPr algn="just">
              <a:lnSpc>
                <a:spcPts val="2624"/>
              </a:lnSpc>
            </a:pPr>
            <a:endParaRPr lang="en-US" sz="2499" spc="84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624"/>
              </a:lnSpc>
            </a:pP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6. A key barrier to adoption is </a:t>
            </a:r>
            <a:r>
              <a:rPr lang="en-US" sz="2499" b="1" spc="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usability</a:t>
            </a: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as many tools are:</a:t>
            </a:r>
          </a:p>
          <a:p>
            <a:pPr marL="539749" lvl="1" indent="-269875" algn="just">
              <a:lnSpc>
                <a:spcPts val="2624"/>
              </a:lnSpc>
              <a:buFont typeface="Arial"/>
              <a:buChar char="•"/>
            </a:pP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poorly documented</a:t>
            </a:r>
          </a:p>
          <a:p>
            <a:pPr marL="539749" lvl="1" indent="-269875" algn="just">
              <a:lnSpc>
                <a:spcPts val="2624"/>
              </a:lnSpc>
              <a:buFont typeface="Arial"/>
              <a:buChar char="•"/>
            </a:pP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limited in funding and development</a:t>
            </a:r>
          </a:p>
          <a:p>
            <a:pPr marL="539749" lvl="1" indent="-269875" algn="just">
              <a:lnSpc>
                <a:spcPts val="2624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struggling with long-term maintenance and support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3428" y="3195805"/>
            <a:ext cx="2817983" cy="809356"/>
            <a:chOff x="0" y="0"/>
            <a:chExt cx="694851" cy="1995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4851" cy="199569"/>
            </a:xfrm>
            <a:custGeom>
              <a:avLst/>
              <a:gdLst/>
              <a:ahLst/>
              <a:cxnLst/>
              <a:rect l="l" t="t" r="r" b="b"/>
              <a:pathLst>
                <a:path w="694851" h="199569">
                  <a:moveTo>
                    <a:pt x="68683" y="0"/>
                  </a:moveTo>
                  <a:lnTo>
                    <a:pt x="626167" y="0"/>
                  </a:lnTo>
                  <a:cubicBezTo>
                    <a:pt x="664100" y="0"/>
                    <a:pt x="694851" y="30751"/>
                    <a:pt x="694851" y="68683"/>
                  </a:cubicBezTo>
                  <a:lnTo>
                    <a:pt x="694851" y="130886"/>
                  </a:lnTo>
                  <a:cubicBezTo>
                    <a:pt x="694851" y="168818"/>
                    <a:pt x="664100" y="199569"/>
                    <a:pt x="626167" y="199569"/>
                  </a:cubicBezTo>
                  <a:lnTo>
                    <a:pt x="68683" y="199569"/>
                  </a:lnTo>
                  <a:cubicBezTo>
                    <a:pt x="30751" y="199569"/>
                    <a:pt x="0" y="168818"/>
                    <a:pt x="0" y="130886"/>
                  </a:cubicBezTo>
                  <a:lnTo>
                    <a:pt x="0" y="68683"/>
                  </a:lnTo>
                  <a:cubicBezTo>
                    <a:pt x="0" y="30751"/>
                    <a:pt x="30751" y="0"/>
                    <a:pt x="6868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694851" cy="170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6"/>
                </a:lnSpc>
              </a:pPr>
              <a:endParaRPr/>
            </a:p>
          </p:txBody>
        </p:sp>
      </p:grp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28700" y="3195805"/>
          <a:ext cx="16230600" cy="4934631"/>
        </p:xfrm>
        <a:graphic>
          <a:graphicData uri="http://schemas.openxmlformats.org/drawingml/2006/table">
            <a:tbl>
              <a:tblPr/>
              <a:tblGrid>
                <a:gridCol w="284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32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54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8724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Filtering criteria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Limitation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Recommendation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0261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Missing information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Some tools have incomplete information and may be incorrectly filtered out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Can’t always be accounted for. Make the assumption that tools with missing information are not widely adopted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7756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Non-functional URL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Some tools are important and widely adopted but have since changed their URL or it was recorded incorrectly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Individually inspect each tools URL after filtering 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7891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Citation count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Older tools will have higher citations compared to tools &lt; 5 years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Gradient filtering based on the release date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Freeform 6"/>
          <p:cNvSpPr/>
          <p:nvPr/>
        </p:nvSpPr>
        <p:spPr>
          <a:xfrm>
            <a:off x="14390656" y="-1681809"/>
            <a:ext cx="4607176" cy="5421018"/>
          </a:xfrm>
          <a:custGeom>
            <a:avLst/>
            <a:gdLst/>
            <a:ahLst/>
            <a:cxnLst/>
            <a:rect l="l" t="t" r="r" b="b"/>
            <a:pathLst>
              <a:path w="4607176" h="5421018">
                <a:moveTo>
                  <a:pt x="0" y="0"/>
                </a:moveTo>
                <a:lnTo>
                  <a:pt x="4607176" y="0"/>
                </a:lnTo>
                <a:lnTo>
                  <a:pt x="4607176" y="5421018"/>
                </a:lnTo>
                <a:lnTo>
                  <a:pt x="0" y="5421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898138" y="1939250"/>
            <a:ext cx="4806616" cy="799355"/>
            <a:chOff x="0" y="0"/>
            <a:chExt cx="1185203" cy="19710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85203" cy="197103"/>
            </a:xfrm>
            <a:custGeom>
              <a:avLst/>
              <a:gdLst/>
              <a:ahLst/>
              <a:cxnLst/>
              <a:rect l="l" t="t" r="r" b="b"/>
              <a:pathLst>
                <a:path w="1185203" h="197103">
                  <a:moveTo>
                    <a:pt x="40267" y="0"/>
                  </a:moveTo>
                  <a:lnTo>
                    <a:pt x="1144936" y="0"/>
                  </a:lnTo>
                  <a:cubicBezTo>
                    <a:pt x="1167174" y="0"/>
                    <a:pt x="1185203" y="18028"/>
                    <a:pt x="1185203" y="40267"/>
                  </a:cubicBezTo>
                  <a:lnTo>
                    <a:pt x="1185203" y="156836"/>
                  </a:lnTo>
                  <a:cubicBezTo>
                    <a:pt x="1185203" y="167515"/>
                    <a:pt x="1180960" y="177757"/>
                    <a:pt x="1173409" y="185309"/>
                  </a:cubicBezTo>
                  <a:cubicBezTo>
                    <a:pt x="1165857" y="192860"/>
                    <a:pt x="1155615" y="197103"/>
                    <a:pt x="1144936" y="197103"/>
                  </a:cubicBezTo>
                  <a:lnTo>
                    <a:pt x="40267" y="197103"/>
                  </a:lnTo>
                  <a:cubicBezTo>
                    <a:pt x="29588" y="197103"/>
                    <a:pt x="19345" y="192860"/>
                    <a:pt x="11794" y="185309"/>
                  </a:cubicBezTo>
                  <a:cubicBezTo>
                    <a:pt x="4242" y="177757"/>
                    <a:pt x="0" y="167515"/>
                    <a:pt x="0" y="156836"/>
                  </a:cubicBezTo>
                  <a:lnTo>
                    <a:pt x="0" y="40267"/>
                  </a:lnTo>
                  <a:cubicBezTo>
                    <a:pt x="0" y="29588"/>
                    <a:pt x="4242" y="19345"/>
                    <a:pt x="11794" y="11794"/>
                  </a:cubicBezTo>
                  <a:cubicBezTo>
                    <a:pt x="19345" y="4242"/>
                    <a:pt x="29588" y="0"/>
                    <a:pt x="4026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8575"/>
              <a:ext cx="1185203" cy="1685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6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096628" y="2063787"/>
            <a:ext cx="330579" cy="562906"/>
          </a:xfrm>
          <a:custGeom>
            <a:avLst/>
            <a:gdLst/>
            <a:ahLst/>
            <a:cxnLst/>
            <a:rect l="l" t="t" r="r" b="b"/>
            <a:pathLst>
              <a:path w="330579" h="562906">
                <a:moveTo>
                  <a:pt x="0" y="0"/>
                </a:moveTo>
                <a:lnTo>
                  <a:pt x="330579" y="0"/>
                </a:lnTo>
                <a:lnTo>
                  <a:pt x="330579" y="562905"/>
                </a:lnTo>
                <a:lnTo>
                  <a:pt x="0" y="56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5031092" y="1028700"/>
            <a:ext cx="2228208" cy="2480798"/>
          </a:xfrm>
          <a:custGeom>
            <a:avLst/>
            <a:gdLst/>
            <a:ahLst/>
            <a:cxnLst/>
            <a:rect l="l" t="t" r="r" b="b"/>
            <a:pathLst>
              <a:path w="2228208" h="2480798">
                <a:moveTo>
                  <a:pt x="0" y="0"/>
                </a:moveTo>
                <a:lnTo>
                  <a:pt x="2228208" y="0"/>
                </a:lnTo>
                <a:lnTo>
                  <a:pt x="2228208" y="2480798"/>
                </a:lnTo>
                <a:lnTo>
                  <a:pt x="0" y="24807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063428" y="1076325"/>
            <a:ext cx="1145198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1">
                <a:solidFill>
                  <a:srgbClr val="000000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LIMITATIONS AND RECOMMENDATIONS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40856" y="2179161"/>
            <a:ext cx="3245865" cy="329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99"/>
              </a:lnSpc>
              <a:spcBef>
                <a:spcPct val="0"/>
              </a:spcBef>
            </a:pPr>
            <a:r>
              <a:rPr lang="en-US" sz="2285" b="1" spc="7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ONLY ONE KEY WORD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19054" y="1948775"/>
            <a:ext cx="8027024" cy="709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26"/>
              </a:lnSpc>
            </a:pPr>
            <a:r>
              <a:rPr lang="en-US" sz="1739" spc="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Limitation → limits the number of tools identified</a:t>
            </a:r>
          </a:p>
          <a:p>
            <a:pPr algn="just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Recommendation → Use more proteomics-related terms such as “structural biology”, “peptide”, “protein” etc.</a:t>
            </a:r>
          </a:p>
        </p:txBody>
      </p:sp>
      <p:sp>
        <p:nvSpPr>
          <p:cNvPr id="15" name="Freeform 15"/>
          <p:cNvSpPr/>
          <p:nvPr/>
        </p:nvSpPr>
        <p:spPr>
          <a:xfrm>
            <a:off x="1096628" y="3319030"/>
            <a:ext cx="330579" cy="562906"/>
          </a:xfrm>
          <a:custGeom>
            <a:avLst/>
            <a:gdLst/>
            <a:ahLst/>
            <a:cxnLst/>
            <a:rect l="l" t="t" r="r" b="b"/>
            <a:pathLst>
              <a:path w="330579" h="562906">
                <a:moveTo>
                  <a:pt x="0" y="0"/>
                </a:moveTo>
                <a:lnTo>
                  <a:pt x="330579" y="0"/>
                </a:lnTo>
                <a:lnTo>
                  <a:pt x="330579" y="562906"/>
                </a:lnTo>
                <a:lnTo>
                  <a:pt x="0" y="5629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439868" y="8228281"/>
            <a:ext cx="11408264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NOTE:</a:t>
            </a: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This study did not evaluate usability or user experience. </a:t>
            </a:r>
          </a:p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Future research could explore the trade-offs between reproducibility and other aspects of tool development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6392799" cy="813629"/>
          </a:xfrm>
          <a:custGeom>
            <a:avLst/>
            <a:gdLst/>
            <a:ahLst/>
            <a:cxnLst/>
            <a:rect l="l" t="t" r="r" b="b"/>
            <a:pathLst>
              <a:path w="6392799" h="813629">
                <a:moveTo>
                  <a:pt x="0" y="0"/>
                </a:moveTo>
                <a:lnTo>
                  <a:pt x="6392799" y="0"/>
                </a:lnTo>
                <a:lnTo>
                  <a:pt x="6392799" y="813629"/>
                </a:lnTo>
                <a:lnTo>
                  <a:pt x="0" y="8136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2119999"/>
            <a:ext cx="16230600" cy="6471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86"/>
              </a:lnSpc>
            </a:pPr>
            <a:r>
              <a:rPr lang="en-US" sz="3224" spc="1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study introduces a </a:t>
            </a:r>
            <a:r>
              <a:rPr lang="en-US" sz="3224" b="1" spc="10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reproducibility scoring system</a:t>
            </a:r>
            <a:r>
              <a:rPr lang="en-US" sz="3224" spc="1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tailored to proteomics tools</a:t>
            </a:r>
          </a:p>
          <a:p>
            <a:pPr algn="just">
              <a:lnSpc>
                <a:spcPts val="3386"/>
              </a:lnSpc>
            </a:pPr>
            <a:endParaRPr lang="en-US" sz="3224" spc="10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3386"/>
              </a:lnSpc>
            </a:pPr>
            <a:r>
              <a:rPr lang="en-US" sz="3224" spc="1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Scoring system will:</a:t>
            </a:r>
          </a:p>
          <a:p>
            <a:pPr algn="ctr">
              <a:lnSpc>
                <a:spcPts val="3386"/>
              </a:lnSpc>
            </a:pPr>
            <a:r>
              <a:rPr lang="en-US" sz="3224" spc="1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Help researchers evaluate and select software more confidently</a:t>
            </a:r>
          </a:p>
          <a:p>
            <a:pPr algn="ctr">
              <a:lnSpc>
                <a:spcPts val="3386"/>
              </a:lnSpc>
            </a:pPr>
            <a:r>
              <a:rPr lang="en-US" sz="3224" spc="1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 develop reproducible software</a:t>
            </a:r>
          </a:p>
          <a:p>
            <a:pPr algn="just">
              <a:lnSpc>
                <a:spcPts val="3386"/>
              </a:lnSpc>
            </a:pPr>
            <a:endParaRPr lang="en-US" sz="3224" spc="10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386"/>
              </a:lnSpc>
            </a:pPr>
            <a:r>
              <a:rPr lang="en-US" sz="3224" spc="1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Our findings emphasize the need for:</a:t>
            </a:r>
          </a:p>
          <a:p>
            <a:pPr algn="just">
              <a:lnSpc>
                <a:spcPts val="3386"/>
              </a:lnSpc>
            </a:pPr>
            <a:endParaRPr lang="en-US" sz="3224" spc="10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96258" lvl="1" indent="-348129" algn="just">
              <a:lnSpc>
                <a:spcPts val="3386"/>
              </a:lnSpc>
              <a:buFont typeface="Arial"/>
              <a:buChar char="•"/>
            </a:pPr>
            <a:r>
              <a:rPr lang="en-US" sz="3224" spc="1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Standardized development and reporting practices</a:t>
            </a:r>
          </a:p>
          <a:p>
            <a:pPr algn="just">
              <a:lnSpc>
                <a:spcPts val="3386"/>
              </a:lnSpc>
            </a:pPr>
            <a:endParaRPr lang="en-US" sz="3224" spc="10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96258" lvl="1" indent="-348129" algn="just">
              <a:lnSpc>
                <a:spcPts val="3386"/>
              </a:lnSpc>
              <a:buFont typeface="Arial"/>
              <a:buChar char="•"/>
            </a:pPr>
            <a:r>
              <a:rPr lang="en-US" sz="3224" spc="1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Transparent code and data sharing at all stages</a:t>
            </a:r>
          </a:p>
          <a:p>
            <a:pPr algn="just">
              <a:lnSpc>
                <a:spcPts val="3386"/>
              </a:lnSpc>
            </a:pPr>
            <a:endParaRPr lang="en-US" sz="3224" spc="10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96258" lvl="1" indent="-348129" algn="just">
              <a:lnSpc>
                <a:spcPts val="3386"/>
              </a:lnSpc>
              <a:buFont typeface="Arial"/>
              <a:buChar char="•"/>
            </a:pPr>
            <a:r>
              <a:rPr lang="en-US" sz="3224" spc="1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Closer collaboration between tool developers and end-users → user-centered design</a:t>
            </a:r>
          </a:p>
        </p:txBody>
      </p:sp>
      <p:sp>
        <p:nvSpPr>
          <p:cNvPr id="4" name="Freeform 4"/>
          <p:cNvSpPr/>
          <p:nvPr/>
        </p:nvSpPr>
        <p:spPr>
          <a:xfrm>
            <a:off x="14742043" y="-1681809"/>
            <a:ext cx="4255789" cy="5007560"/>
          </a:xfrm>
          <a:custGeom>
            <a:avLst/>
            <a:gdLst/>
            <a:ahLst/>
            <a:cxnLst/>
            <a:rect l="l" t="t" r="r" b="b"/>
            <a:pathLst>
              <a:path w="4255789" h="5007560">
                <a:moveTo>
                  <a:pt x="0" y="0"/>
                </a:moveTo>
                <a:lnTo>
                  <a:pt x="4255789" y="0"/>
                </a:lnTo>
                <a:lnTo>
                  <a:pt x="4255789" y="5007560"/>
                </a:lnTo>
                <a:lnTo>
                  <a:pt x="0" y="50075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2719397" y="5833143"/>
            <a:ext cx="4607176" cy="5421018"/>
          </a:xfrm>
          <a:custGeom>
            <a:avLst/>
            <a:gdLst/>
            <a:ahLst/>
            <a:cxnLst/>
            <a:rect l="l" t="t" r="r" b="b"/>
            <a:pathLst>
              <a:path w="4607176" h="5421018">
                <a:moveTo>
                  <a:pt x="0" y="0"/>
                </a:moveTo>
                <a:lnTo>
                  <a:pt x="4607176" y="0"/>
                </a:lnTo>
                <a:lnTo>
                  <a:pt x="4607176" y="5421018"/>
                </a:lnTo>
                <a:lnTo>
                  <a:pt x="0" y="54210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074728" y="1254539"/>
            <a:ext cx="430074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1">
                <a:solidFill>
                  <a:srgbClr val="000000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CONCLUSION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416186" y="506111"/>
            <a:ext cx="6994113" cy="7604345"/>
          </a:xfrm>
          <a:custGeom>
            <a:avLst/>
            <a:gdLst/>
            <a:ahLst/>
            <a:cxnLst/>
            <a:rect l="l" t="t" r="r" b="b"/>
            <a:pathLst>
              <a:path w="6994113" h="7604345">
                <a:moveTo>
                  <a:pt x="0" y="0"/>
                </a:moveTo>
                <a:lnTo>
                  <a:pt x="6994113" y="0"/>
                </a:lnTo>
                <a:lnTo>
                  <a:pt x="6994113" y="7604346"/>
                </a:lnTo>
                <a:lnTo>
                  <a:pt x="0" y="7604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b="-8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3762244" y="1556584"/>
            <a:ext cx="6994113" cy="6553873"/>
          </a:xfrm>
          <a:custGeom>
            <a:avLst/>
            <a:gdLst/>
            <a:ahLst/>
            <a:cxnLst/>
            <a:rect l="l" t="t" r="r" b="b"/>
            <a:pathLst>
              <a:path w="6994113" h="6553873">
                <a:moveTo>
                  <a:pt x="0" y="0"/>
                </a:moveTo>
                <a:lnTo>
                  <a:pt x="6994112" y="0"/>
                </a:lnTo>
                <a:lnTo>
                  <a:pt x="6994112" y="6553873"/>
                </a:lnTo>
                <a:lnTo>
                  <a:pt x="0" y="65538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b="-2556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41338" y="1024294"/>
            <a:ext cx="16501726" cy="6549071"/>
          </a:xfrm>
          <a:custGeom>
            <a:avLst/>
            <a:gdLst/>
            <a:ahLst/>
            <a:cxnLst/>
            <a:rect l="l" t="t" r="r" b="b"/>
            <a:pathLst>
              <a:path w="16501726" h="6549071">
                <a:moveTo>
                  <a:pt x="0" y="0"/>
                </a:moveTo>
                <a:lnTo>
                  <a:pt x="16501726" y="0"/>
                </a:lnTo>
                <a:lnTo>
                  <a:pt x="16501726" y="6549071"/>
                </a:lnTo>
                <a:lnTo>
                  <a:pt x="0" y="65490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6" b="-82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43431" y="8002095"/>
            <a:ext cx="4535708" cy="1667179"/>
          </a:xfrm>
          <a:custGeom>
            <a:avLst/>
            <a:gdLst/>
            <a:ahLst/>
            <a:cxnLst/>
            <a:rect l="l" t="t" r="r" b="b"/>
            <a:pathLst>
              <a:path w="4535708" h="1667179">
                <a:moveTo>
                  <a:pt x="0" y="0"/>
                </a:moveTo>
                <a:lnTo>
                  <a:pt x="4535708" y="0"/>
                </a:lnTo>
                <a:lnTo>
                  <a:pt x="4535708" y="1667179"/>
                </a:lnTo>
                <a:lnTo>
                  <a:pt x="0" y="16671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5788689" y="7709476"/>
            <a:ext cx="1832904" cy="2252416"/>
          </a:xfrm>
          <a:custGeom>
            <a:avLst/>
            <a:gdLst/>
            <a:ahLst/>
            <a:cxnLst/>
            <a:rect l="l" t="t" r="r" b="b"/>
            <a:pathLst>
              <a:path w="1832904" h="2252416">
                <a:moveTo>
                  <a:pt x="0" y="0"/>
                </a:moveTo>
                <a:lnTo>
                  <a:pt x="1832903" y="0"/>
                </a:lnTo>
                <a:lnTo>
                  <a:pt x="1832903" y="2252417"/>
                </a:lnTo>
                <a:lnTo>
                  <a:pt x="0" y="22524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682334" y="7709476"/>
            <a:ext cx="2303146" cy="2252416"/>
          </a:xfrm>
          <a:custGeom>
            <a:avLst/>
            <a:gdLst/>
            <a:ahLst/>
            <a:cxnLst/>
            <a:rect l="l" t="t" r="r" b="b"/>
            <a:pathLst>
              <a:path w="2303146" h="2252416">
                <a:moveTo>
                  <a:pt x="0" y="0"/>
                </a:moveTo>
                <a:lnTo>
                  <a:pt x="2303147" y="0"/>
                </a:lnTo>
                <a:lnTo>
                  <a:pt x="2303147" y="2252417"/>
                </a:lnTo>
                <a:lnTo>
                  <a:pt x="0" y="22524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9743558" y="7601093"/>
            <a:ext cx="2720827" cy="2685907"/>
          </a:xfrm>
          <a:custGeom>
            <a:avLst/>
            <a:gdLst/>
            <a:ahLst/>
            <a:cxnLst/>
            <a:rect l="l" t="t" r="r" b="b"/>
            <a:pathLst>
              <a:path w="2720827" h="2685907">
                <a:moveTo>
                  <a:pt x="0" y="0"/>
                </a:moveTo>
                <a:lnTo>
                  <a:pt x="2720827" y="0"/>
                </a:lnTo>
                <a:lnTo>
                  <a:pt x="2720827" y="2685907"/>
                </a:lnTo>
                <a:lnTo>
                  <a:pt x="0" y="26859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0655" r="-2006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2464385" y="7601093"/>
            <a:ext cx="2252416" cy="2252416"/>
          </a:xfrm>
          <a:custGeom>
            <a:avLst/>
            <a:gdLst/>
            <a:ahLst/>
            <a:cxnLst/>
            <a:rect l="l" t="t" r="r" b="b"/>
            <a:pathLst>
              <a:path w="2252416" h="2252416">
                <a:moveTo>
                  <a:pt x="0" y="0"/>
                </a:moveTo>
                <a:lnTo>
                  <a:pt x="2252416" y="0"/>
                </a:lnTo>
                <a:lnTo>
                  <a:pt x="2252416" y="2252416"/>
                </a:lnTo>
                <a:lnTo>
                  <a:pt x="0" y="225241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3306199" y="2611497"/>
            <a:ext cx="11959365" cy="1407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05"/>
              </a:lnSpc>
            </a:pPr>
            <a:r>
              <a:rPr lang="en-US" sz="10195" b="1">
                <a:solidFill>
                  <a:srgbClr val="000000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THANK YOU!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42081" y="3814433"/>
            <a:ext cx="15887602" cy="296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2399" i="1" spc="8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Coetzer, K.C., Aidoo, A.S.,  Adomako N.A., Ajiboye, I.O., Nortey H., Okello, O.I., and Awe, O.I. </a:t>
            </a:r>
          </a:p>
          <a:p>
            <a:pPr algn="ctr">
              <a:lnSpc>
                <a:spcPts val="2519"/>
              </a:lnSpc>
            </a:pPr>
            <a:endParaRPr lang="en-US" sz="2399" i="1" spc="81">
              <a:solidFill>
                <a:srgbClr val="000000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  <a:p>
            <a:pPr algn="ctr">
              <a:lnSpc>
                <a:spcPts val="1680"/>
              </a:lnSpc>
            </a:pPr>
            <a:r>
              <a:rPr lang="en-US" sz="1600" i="1" spc="5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Department Biomedical Sciences, Division of Molecular Biology and Human Genetics, Stellenbosch University, Cape Town, South Africa</a:t>
            </a:r>
          </a:p>
          <a:p>
            <a:pPr algn="ctr">
              <a:lnSpc>
                <a:spcPts val="1680"/>
              </a:lnSpc>
            </a:pPr>
            <a:r>
              <a:rPr lang="en-US" sz="1600" i="1" spc="5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Department of Virology, Noguchi Memorial Institute for Medical Research, College of Health Sciences, University of Ghana, Legon, Accra, Ghana.</a:t>
            </a:r>
          </a:p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600" i="1" spc="5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Department of Clinical Pathology, Noguchi Memorial Institute for Medical Research, College of Health Sciences, University of Ghana, Legon, Accra, Ghana.</a:t>
            </a:r>
          </a:p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600" i="1" spc="5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Department of Molecular Medicine, School of Medicine and Dentistry, Kwame Nkrumah University of Science and Technology, Kumasi, Ghana. </a:t>
            </a:r>
          </a:p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600" i="1" spc="5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Covenant Applied Informatics and Communication Africa Centre of Excellence (CApIC-ACE), Covenant University, Ota, Nigeria.</a:t>
            </a:r>
          </a:p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600" i="1" spc="5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Department of Computer and Information Sciences, College of Science and Technology, Covenant University, Ota, Nigeria.</a:t>
            </a:r>
          </a:p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600" i="1" spc="5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Department of Immunology and Molecular Biology, College of Health Sciences, School of Biomedical Sciences, Makerere University, Kampala, Uganda.</a:t>
            </a:r>
          </a:p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600" i="1" spc="5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African Society for Bioinformatics and Computational Biology, Cape Town, South Africa.</a:t>
            </a:r>
          </a:p>
          <a:p>
            <a:pPr algn="ctr">
              <a:lnSpc>
                <a:spcPts val="1680"/>
              </a:lnSpc>
              <a:spcBef>
                <a:spcPct val="0"/>
              </a:spcBef>
            </a:pPr>
            <a:endParaRPr lang="en-US" sz="1600" i="1" spc="54">
              <a:solidFill>
                <a:srgbClr val="000000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5265564" y="7709476"/>
            <a:ext cx="1783199" cy="2149746"/>
          </a:xfrm>
          <a:custGeom>
            <a:avLst/>
            <a:gdLst/>
            <a:ahLst/>
            <a:cxnLst/>
            <a:rect l="l" t="t" r="r" b="b"/>
            <a:pathLst>
              <a:path w="1783199" h="2149746">
                <a:moveTo>
                  <a:pt x="0" y="0"/>
                </a:moveTo>
                <a:lnTo>
                  <a:pt x="1783199" y="0"/>
                </a:lnTo>
                <a:lnTo>
                  <a:pt x="1783199" y="2149746"/>
                </a:lnTo>
                <a:lnTo>
                  <a:pt x="0" y="214974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1704</Words>
  <Application>Microsoft Office PowerPoint</Application>
  <PresentationFormat>Custom</PresentationFormat>
  <Paragraphs>288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Poppins</vt:lpstr>
      <vt:lpstr>TT Lakes Neue Expanded Bold</vt:lpstr>
      <vt:lpstr>Poppins Italics</vt:lpstr>
      <vt:lpstr>JetBrains Mono</vt:lpstr>
      <vt:lpstr>TT Lakes Neue Expanded</vt:lpstr>
      <vt:lpstr>Arial</vt:lpstr>
      <vt:lpstr>Poppins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Blue Futuristic Technology Computer Science Presentation</dc:title>
  <cp:lastModifiedBy>Kimberly Coetzer</cp:lastModifiedBy>
  <cp:revision>1</cp:revision>
  <dcterms:created xsi:type="dcterms:W3CDTF">2006-08-16T00:00:00Z</dcterms:created>
  <dcterms:modified xsi:type="dcterms:W3CDTF">2025-07-27T16:11:49Z</dcterms:modified>
  <dc:identifier>DAGjel3-u4g</dc:identifier>
</cp:coreProperties>
</file>